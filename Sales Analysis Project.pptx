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9" r:id="rId4"/>
  </p:sldMasterIdLst>
  <p:notesMasterIdLst>
    <p:notesMasterId r:id="rId20"/>
  </p:notesMasterIdLst>
  <p:handoutMasterIdLst>
    <p:handoutMasterId r:id="rId21"/>
  </p:handoutMasterIdLst>
  <p:sldIdLst>
    <p:sldId id="314" r:id="rId5"/>
    <p:sldId id="333" r:id="rId6"/>
    <p:sldId id="315" r:id="rId7"/>
    <p:sldId id="336" r:id="rId8"/>
    <p:sldId id="335" r:id="rId9"/>
    <p:sldId id="316" r:id="rId10"/>
    <p:sldId id="334" r:id="rId11"/>
    <p:sldId id="317" r:id="rId12"/>
    <p:sldId id="327" r:id="rId13"/>
    <p:sldId id="328" r:id="rId14"/>
    <p:sldId id="329" r:id="rId15"/>
    <p:sldId id="330" r:id="rId16"/>
    <p:sldId id="331" r:id="rId17"/>
    <p:sldId id="332" r:id="rId18"/>
    <p:sldId id="337"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2F62"/>
    <a:srgbClr val="B31166"/>
    <a:srgbClr val="2C2049"/>
    <a:srgbClr val="162660"/>
    <a:srgbClr val="2E204A"/>
    <a:srgbClr val="E9E6DF"/>
    <a:srgbClr val="2D204A"/>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388" autoAdjust="0"/>
  </p:normalViewPr>
  <p:slideViewPr>
    <p:cSldViewPr snapToGrid="0">
      <p:cViewPr>
        <p:scale>
          <a:sx n="63" d="100"/>
          <a:sy n="63" d="100"/>
        </p:scale>
        <p:origin x="804" y="108"/>
      </p:cViewPr>
      <p:guideLst>
        <p:guide orient="horz" pos="3360"/>
        <p:guide pos="3840"/>
      </p:guideLst>
    </p:cSldViewPr>
  </p:slideViewPr>
  <p:outlineViewPr>
    <p:cViewPr>
      <p:scale>
        <a:sx n="33" d="100"/>
        <a:sy n="33" d="100"/>
      </p:scale>
      <p:origin x="0" y="-12672"/>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11/17/2025</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11/17/2025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dirty="0"/>
          </a:p>
        </p:txBody>
      </p:sp>
    </p:spTree>
    <p:extLst>
      <p:ext uri="{BB962C8B-B14F-4D97-AF65-F5344CB8AC3E}">
        <p14:creationId xmlns:p14="http://schemas.microsoft.com/office/powerpoint/2010/main" val="256913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dirty="0"/>
          </a:p>
        </p:txBody>
      </p:sp>
    </p:spTree>
    <p:extLst>
      <p:ext uri="{BB962C8B-B14F-4D97-AF65-F5344CB8AC3E}">
        <p14:creationId xmlns:p14="http://schemas.microsoft.com/office/powerpoint/2010/main" val="1698969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4</a:t>
            </a:fld>
            <a:endParaRPr lang="en-US" dirty="0"/>
          </a:p>
        </p:txBody>
      </p:sp>
    </p:spTree>
    <p:extLst>
      <p:ext uri="{BB962C8B-B14F-4D97-AF65-F5344CB8AC3E}">
        <p14:creationId xmlns:p14="http://schemas.microsoft.com/office/powerpoint/2010/main" val="3147921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a:t>
            </a:fld>
            <a:endParaRPr lang="en-US" dirty="0"/>
          </a:p>
        </p:txBody>
      </p:sp>
    </p:spTree>
    <p:extLst>
      <p:ext uri="{BB962C8B-B14F-4D97-AF65-F5344CB8AC3E}">
        <p14:creationId xmlns:p14="http://schemas.microsoft.com/office/powerpoint/2010/main" val="4156260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6</a:t>
            </a:fld>
            <a:endParaRPr lang="en-US" dirty="0"/>
          </a:p>
        </p:txBody>
      </p:sp>
    </p:spTree>
    <p:extLst>
      <p:ext uri="{BB962C8B-B14F-4D97-AF65-F5344CB8AC3E}">
        <p14:creationId xmlns:p14="http://schemas.microsoft.com/office/powerpoint/2010/main" val="3528550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7</a:t>
            </a:fld>
            <a:endParaRPr lang="en-US" dirty="0"/>
          </a:p>
        </p:txBody>
      </p:sp>
    </p:spTree>
    <p:extLst>
      <p:ext uri="{BB962C8B-B14F-4D97-AF65-F5344CB8AC3E}">
        <p14:creationId xmlns:p14="http://schemas.microsoft.com/office/powerpoint/2010/main" val="388061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8</a:t>
            </a:fld>
            <a:endParaRPr lang="en-US" dirty="0"/>
          </a:p>
        </p:txBody>
      </p:sp>
    </p:spTree>
    <p:extLst>
      <p:ext uri="{BB962C8B-B14F-4D97-AF65-F5344CB8AC3E}">
        <p14:creationId xmlns:p14="http://schemas.microsoft.com/office/powerpoint/2010/main" val="33360335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9</a:t>
            </a:fld>
            <a:endParaRPr lang="en-US" dirty="0"/>
          </a:p>
        </p:txBody>
      </p:sp>
    </p:spTree>
    <p:extLst>
      <p:ext uri="{BB962C8B-B14F-4D97-AF65-F5344CB8AC3E}">
        <p14:creationId xmlns:p14="http://schemas.microsoft.com/office/powerpoint/2010/main" val="30879244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10</a:t>
            </a:fld>
            <a:endParaRPr lang="en-US" dirty="0"/>
          </a:p>
        </p:txBody>
      </p:sp>
    </p:spTree>
    <p:extLst>
      <p:ext uri="{BB962C8B-B14F-4D97-AF65-F5344CB8AC3E}">
        <p14:creationId xmlns:p14="http://schemas.microsoft.com/office/powerpoint/2010/main" val="10128560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11</a:t>
            </a:fld>
            <a:endParaRPr lang="en-US" dirty="0"/>
          </a:p>
        </p:txBody>
      </p:sp>
    </p:spTree>
    <p:extLst>
      <p:ext uri="{BB962C8B-B14F-4D97-AF65-F5344CB8AC3E}">
        <p14:creationId xmlns:p14="http://schemas.microsoft.com/office/powerpoint/2010/main" val="40573173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12</a:t>
            </a:fld>
            <a:endParaRPr lang="en-US" dirty="0"/>
          </a:p>
        </p:txBody>
      </p:sp>
    </p:spTree>
    <p:extLst>
      <p:ext uri="{BB962C8B-B14F-4D97-AF65-F5344CB8AC3E}">
        <p14:creationId xmlns:p14="http://schemas.microsoft.com/office/powerpoint/2010/main" val="4066057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13</a:t>
            </a:fld>
            <a:endParaRPr lang="en-US" dirty="0"/>
          </a:p>
        </p:txBody>
      </p:sp>
    </p:spTree>
    <p:extLst>
      <p:ext uri="{BB962C8B-B14F-4D97-AF65-F5344CB8AC3E}">
        <p14:creationId xmlns:p14="http://schemas.microsoft.com/office/powerpoint/2010/main" val="25418584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14</a:t>
            </a:fld>
            <a:endParaRPr lang="en-US" dirty="0"/>
          </a:p>
        </p:txBody>
      </p:sp>
    </p:spTree>
    <p:extLst>
      <p:ext uri="{BB962C8B-B14F-4D97-AF65-F5344CB8AC3E}">
        <p14:creationId xmlns:p14="http://schemas.microsoft.com/office/powerpoint/2010/main" val="36113362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15</a:t>
            </a:fld>
            <a:endParaRPr lang="en-US" dirty="0"/>
          </a:p>
        </p:txBody>
      </p:sp>
    </p:spTree>
    <p:extLst>
      <p:ext uri="{BB962C8B-B14F-4D97-AF65-F5344CB8AC3E}">
        <p14:creationId xmlns:p14="http://schemas.microsoft.com/office/powerpoint/2010/main" val="30935693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a:t>Pitch Deck</a:t>
            </a:r>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09725870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04325799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26490309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Pitch Deck</a:t>
            </a:r>
            <a:endParaRPr lang="en-US" dirty="0"/>
          </a:p>
        </p:txBody>
      </p:sp>
      <p:sp>
        <p:nvSpPr>
          <p:cNvPr id="7" name="Slide Number Placeholder 6"/>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332414823"/>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a:t>Pitch Deck</a:t>
            </a:r>
            <a:endParaRPr lang="en-US" dirty="0"/>
          </a:p>
        </p:txBody>
      </p:sp>
      <p:sp>
        <p:nvSpPr>
          <p:cNvPr id="9" name="Slide Number Placeholder 8"/>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78208327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a:t>Pitch Deck</a:t>
            </a:r>
            <a:endParaRPr lang="en-US" dirty="0"/>
          </a:p>
        </p:txBody>
      </p:sp>
      <p:sp>
        <p:nvSpPr>
          <p:cNvPr id="5" name="Slide Number Placeholder 4"/>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93522354"/>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a:t>Pitch Deck</a:t>
            </a:r>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274426269"/>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Pitch Deck</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17860326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Pitch Deck</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72696035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Pitch Deck</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4819844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72123205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23021753"/>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86415601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a:t>Pitch Deck</a:t>
            </a:r>
            <a:endParaRPr lang="en-US" dirty="0"/>
          </a:p>
        </p:txBody>
      </p:sp>
      <p:sp>
        <p:nvSpPr>
          <p:cNvPr id="9" name="Slide Number Placeholder 8"/>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35579834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a:t>Pitch Deck</a:t>
            </a:r>
            <a:endParaRPr lang="en-US" dirty="0"/>
          </a:p>
        </p:txBody>
      </p:sp>
      <p:sp>
        <p:nvSpPr>
          <p:cNvPr id="9" name="Slide Number Placeholder 8"/>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70251879"/>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06173076"/>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908144761"/>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4996-9779-1D0F-B5C6-7FE85FFF1EF4}"/>
              </a:ext>
            </a:extLst>
          </p:cNvPr>
          <p:cNvSpPr>
            <a:spLocks noGrp="1"/>
          </p:cNvSpPr>
          <p:nvPr>
            <p:ph type="title" hasCustomPrompt="1"/>
          </p:nvPr>
        </p:nvSpPr>
        <p:spPr>
          <a:xfrm>
            <a:off x="6096000" y="2773681"/>
            <a:ext cx="5674360" cy="3200400"/>
          </a:xfrm>
        </p:spPr>
        <p:txBody>
          <a:bodyPr anchor="b">
            <a:normAutofit/>
          </a:bodyPr>
          <a:lstStyle>
            <a:lvl1pPr>
              <a:defRPr sz="4800">
                <a:solidFill>
                  <a:schemeClr val="bg1"/>
                </a:solidFill>
              </a:defRPr>
            </a:lvl1pPr>
          </a:lstStyle>
          <a:p>
            <a:r>
              <a:rPr lang="en-US" dirty="0"/>
              <a:t>Click to add title</a:t>
            </a:r>
          </a:p>
        </p:txBody>
      </p:sp>
      <p:pic>
        <p:nvPicPr>
          <p:cNvPr id="7" name="Graphic 6">
            <a:extLst>
              <a:ext uri="{FF2B5EF4-FFF2-40B4-BE49-F238E27FC236}">
                <a16:creationId xmlns:a16="http://schemas.microsoft.com/office/drawing/2014/main" id="{96B97173-A601-1D66-1651-4FE0D76A0BC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454" t="1728"/>
          <a:stretch/>
        </p:blipFill>
        <p:spPr>
          <a:xfrm>
            <a:off x="-1" y="0"/>
            <a:ext cx="8264995" cy="5320146"/>
          </a:xfrm>
          <a:prstGeom prst="rect">
            <a:avLst/>
          </a:prstGeom>
        </p:spPr>
      </p:pic>
    </p:spTree>
    <p:extLst>
      <p:ext uri="{BB962C8B-B14F-4D97-AF65-F5344CB8AC3E}">
        <p14:creationId xmlns:p14="http://schemas.microsoft.com/office/powerpoint/2010/main" val="37532596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Intro">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DFB311A-EAAD-7656-C753-E8C73994853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4533" t="18691" r="1" b="-131"/>
          <a:stretch/>
        </p:blipFill>
        <p:spPr>
          <a:xfrm rot="5400000">
            <a:off x="7851419" y="-1244552"/>
            <a:ext cx="3096029" cy="5585137"/>
          </a:xfrm>
          <a:custGeom>
            <a:avLst/>
            <a:gdLst>
              <a:gd name="connsiteX0" fmla="*/ 0 w 1756624"/>
              <a:gd name="connsiteY0" fmla="*/ 0 h 6858000"/>
              <a:gd name="connsiteX1" fmla="*/ 1756624 w 1756624"/>
              <a:gd name="connsiteY1" fmla="*/ 0 h 6858000"/>
              <a:gd name="connsiteX2" fmla="*/ 1756624 w 1756624"/>
              <a:gd name="connsiteY2" fmla="*/ 6858000 h 6858000"/>
              <a:gd name="connsiteX3" fmla="*/ 0 w 17566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756624" h="6858000">
                <a:moveTo>
                  <a:pt x="0" y="0"/>
                </a:moveTo>
                <a:lnTo>
                  <a:pt x="1756624" y="0"/>
                </a:lnTo>
                <a:lnTo>
                  <a:pt x="1756624" y="6858000"/>
                </a:lnTo>
                <a:lnTo>
                  <a:pt x="0" y="6858000"/>
                </a:lnTo>
                <a:close/>
              </a:path>
            </a:pathLst>
          </a:custGeom>
        </p:spPr>
      </p:pic>
      <p:pic>
        <p:nvPicPr>
          <p:cNvPr id="10" name="Graphic 9">
            <a:extLst>
              <a:ext uri="{FF2B5EF4-FFF2-40B4-BE49-F238E27FC236}">
                <a16:creationId xmlns:a16="http://schemas.microsoft.com/office/drawing/2014/main" id="{1612F0DE-D367-10BB-1F71-60AA6527CAD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151" r="18577"/>
          <a:stretch/>
        </p:blipFill>
        <p:spPr>
          <a:xfrm>
            <a:off x="7010400" y="0"/>
            <a:ext cx="5181600" cy="6858000"/>
          </a:xfrm>
          <a:prstGeom prst="rect">
            <a:avLst/>
          </a:prstGeom>
        </p:spPr>
      </p:pic>
      <p:sp>
        <p:nvSpPr>
          <p:cNvPr id="2" name="Title 1">
            <a:extLst>
              <a:ext uri="{FF2B5EF4-FFF2-40B4-BE49-F238E27FC236}">
                <a16:creationId xmlns:a16="http://schemas.microsoft.com/office/drawing/2014/main" id="{4F4F5799-FC34-2F2D-D11E-9B472CAF066E}"/>
              </a:ext>
            </a:extLst>
          </p:cNvPr>
          <p:cNvSpPr>
            <a:spLocks noGrp="1"/>
          </p:cNvSpPr>
          <p:nvPr>
            <p:ph type="title" hasCustomPrompt="1"/>
          </p:nvPr>
        </p:nvSpPr>
        <p:spPr>
          <a:xfrm>
            <a:off x="914400" y="315533"/>
            <a:ext cx="5181600" cy="2376868"/>
          </a:xfrm>
        </p:spPr>
        <p:txBody>
          <a:bodyPr anchor="b">
            <a:normAutofit/>
          </a:bodyPr>
          <a:lstStyle>
            <a:lvl1pPr>
              <a:defRPr sz="3200"/>
            </a:lvl1pPr>
          </a:lstStyle>
          <a:p>
            <a:r>
              <a:rPr lang="en-US" dirty="0"/>
              <a:t>Click to add title</a:t>
            </a:r>
          </a:p>
        </p:txBody>
      </p:sp>
      <p:sp>
        <p:nvSpPr>
          <p:cNvPr id="8" name="Content Placeholder 7">
            <a:extLst>
              <a:ext uri="{FF2B5EF4-FFF2-40B4-BE49-F238E27FC236}">
                <a16:creationId xmlns:a16="http://schemas.microsoft.com/office/drawing/2014/main" id="{2575025C-084B-CD7A-F546-0E13BA13CFEF}"/>
              </a:ext>
            </a:extLst>
          </p:cNvPr>
          <p:cNvSpPr>
            <a:spLocks noGrp="1"/>
          </p:cNvSpPr>
          <p:nvPr>
            <p:ph sz="quarter" idx="10" hasCustomPrompt="1"/>
          </p:nvPr>
        </p:nvSpPr>
        <p:spPr>
          <a:xfrm>
            <a:off x="914400" y="2844800"/>
            <a:ext cx="5181600" cy="3128963"/>
          </a:xfrm>
        </p:spPr>
        <p:txBody>
          <a:bodyPr>
            <a:normAutofit/>
          </a:bodyPr>
          <a:lstStyle>
            <a:lvl1pPr marL="0" indent="0">
              <a:lnSpc>
                <a:spcPct val="120000"/>
              </a:lnSpc>
              <a:buNone/>
              <a:defRPr sz="2000"/>
            </a:lvl1pPr>
            <a:lvl2pPr>
              <a:lnSpc>
                <a:spcPct val="120000"/>
              </a:lnSpc>
              <a:defRPr sz="1800"/>
            </a:lvl2pPr>
            <a:lvl3pPr>
              <a:lnSpc>
                <a:spcPct val="120000"/>
              </a:lnSpc>
              <a:defRPr sz="1600"/>
            </a:lvl3pPr>
            <a:lvl4pPr>
              <a:lnSpc>
                <a:spcPct val="120000"/>
              </a:lnSpc>
              <a:defRPr sz="1400"/>
            </a:lvl4pPr>
            <a:lvl5pPr>
              <a:lnSpc>
                <a:spcPct val="120000"/>
              </a:lnSpc>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9457934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ection Title">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5DE041D-A3BF-94FF-029C-719D4DADA21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3300" t="13815"/>
          <a:stretch/>
        </p:blipFill>
        <p:spPr>
          <a:xfrm>
            <a:off x="0" y="-1"/>
            <a:ext cx="4239206" cy="3776193"/>
          </a:xfrm>
          <a:prstGeom prst="rect">
            <a:avLst/>
          </a:prstGeom>
        </p:spPr>
      </p:pic>
      <p:sp>
        <p:nvSpPr>
          <p:cNvPr id="2" name="Title 1">
            <a:extLst>
              <a:ext uri="{FF2B5EF4-FFF2-40B4-BE49-F238E27FC236}">
                <a16:creationId xmlns:a16="http://schemas.microsoft.com/office/drawing/2014/main" id="{0DEE605D-0584-F71C-A97D-B672F13E3911}"/>
              </a:ext>
            </a:extLst>
          </p:cNvPr>
          <p:cNvSpPr>
            <a:spLocks noGrp="1"/>
          </p:cNvSpPr>
          <p:nvPr>
            <p:ph type="title" hasCustomPrompt="1"/>
          </p:nvPr>
        </p:nvSpPr>
        <p:spPr>
          <a:xfrm>
            <a:off x="914400" y="2580640"/>
            <a:ext cx="5181600" cy="3368819"/>
          </a:xfrm>
        </p:spPr>
        <p:txBody>
          <a:bodyPr anchor="b">
            <a:normAutofit/>
          </a:bodyPr>
          <a:lstStyle>
            <a:lvl1pPr>
              <a:defRPr sz="4800">
                <a:solidFill>
                  <a:schemeClr val="bg1"/>
                </a:solidFill>
              </a:defRPr>
            </a:lvl1pPr>
          </a:lstStyle>
          <a:p>
            <a:r>
              <a:rPr lang="en-US" dirty="0"/>
              <a:t>Click to add title</a:t>
            </a:r>
          </a:p>
        </p:txBody>
      </p:sp>
      <p:sp>
        <p:nvSpPr>
          <p:cNvPr id="9" name="Picture Placeholder 8">
            <a:extLst>
              <a:ext uri="{FF2B5EF4-FFF2-40B4-BE49-F238E27FC236}">
                <a16:creationId xmlns:a16="http://schemas.microsoft.com/office/drawing/2014/main" id="{59AF635C-89E6-F6EF-FA6A-417A9A84BF4A}"/>
              </a:ext>
            </a:extLst>
          </p:cNvPr>
          <p:cNvSpPr>
            <a:spLocks noGrp="1"/>
          </p:cNvSpPr>
          <p:nvPr>
            <p:ph type="pic" sz="quarter" idx="10" hasCustomPrompt="1"/>
          </p:nvPr>
        </p:nvSpPr>
        <p:spPr>
          <a:xfrm>
            <a:off x="6085840" y="-10159"/>
            <a:ext cx="6116320" cy="6868160"/>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a:norm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26965655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Overview">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B74EE53-DB22-C27E-074F-A7129585FE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158" t="-5374" b="78533"/>
          <a:stretch/>
        </p:blipFill>
        <p:spPr>
          <a:xfrm rot="10800000">
            <a:off x="6324600" y="0"/>
            <a:ext cx="5867400" cy="1647324"/>
          </a:xfrm>
          <a:prstGeom prst="rect">
            <a:avLst/>
          </a:prstGeom>
        </p:spPr>
      </p:pic>
      <p:sp>
        <p:nvSpPr>
          <p:cNvPr id="2" name="Title 1">
            <a:extLst>
              <a:ext uri="{FF2B5EF4-FFF2-40B4-BE49-F238E27FC236}">
                <a16:creationId xmlns:a16="http://schemas.microsoft.com/office/drawing/2014/main" id="{278AEF0C-FA4B-8C23-0132-5529EC244F9E}"/>
              </a:ext>
            </a:extLst>
          </p:cNvPr>
          <p:cNvSpPr>
            <a:spLocks noGrp="1"/>
          </p:cNvSpPr>
          <p:nvPr>
            <p:ph type="title" hasCustomPrompt="1"/>
          </p:nvPr>
        </p:nvSpPr>
        <p:spPr>
          <a:xfrm>
            <a:off x="6126480" y="1310639"/>
            <a:ext cx="4805997" cy="2689629"/>
          </a:xfrm>
        </p:spPr>
        <p:txBody>
          <a:bodyPr anchor="b">
            <a:normAutofit/>
          </a:bodyPr>
          <a:lstStyle>
            <a:lvl1pPr>
              <a:defRPr sz="4800"/>
            </a:lvl1pPr>
          </a:lstStyle>
          <a:p>
            <a:r>
              <a:rPr lang="en-US" dirty="0"/>
              <a:t>Click to add title</a:t>
            </a:r>
          </a:p>
        </p:txBody>
      </p:sp>
      <p:sp>
        <p:nvSpPr>
          <p:cNvPr id="12" name="Picture Placeholder 11">
            <a:extLst>
              <a:ext uri="{FF2B5EF4-FFF2-40B4-BE49-F238E27FC236}">
                <a16:creationId xmlns:a16="http://schemas.microsoft.com/office/drawing/2014/main" id="{B3DD4867-9B0B-647C-1F78-5E50BF30F089}"/>
              </a:ext>
            </a:extLst>
          </p:cNvPr>
          <p:cNvSpPr>
            <a:spLocks noGrp="1"/>
          </p:cNvSpPr>
          <p:nvPr>
            <p:ph type="pic" sz="quarter" idx="11"/>
          </p:nvPr>
        </p:nvSpPr>
        <p:spPr>
          <a:xfrm>
            <a:off x="0" y="-1016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053840 w 6096000"/>
              <a:gd name="connsiteY2" fmla="*/ 6858000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053840" y="6858000"/>
                </a:lnTo>
                <a:lnTo>
                  <a:pt x="0" y="6858000"/>
                </a:lnTo>
                <a:lnTo>
                  <a:pt x="0" y="0"/>
                </a:lnTo>
                <a:close/>
              </a:path>
            </a:pathLst>
          </a:custGeom>
        </p:spPr>
        <p:txBody>
          <a:bodyPr>
            <a:normAutofit/>
          </a:bodyPr>
          <a:lstStyle>
            <a:lvl1pPr marL="0" indent="0" algn="ctr">
              <a:buNone/>
              <a:defRPr sz="2000"/>
            </a:lvl1pPr>
          </a:lstStyle>
          <a:p>
            <a:r>
              <a:rPr lang="en-US"/>
              <a:t>Click icon to add picture</a:t>
            </a:r>
            <a:endParaRPr lang="en-US" dirty="0"/>
          </a:p>
        </p:txBody>
      </p:sp>
      <p:sp>
        <p:nvSpPr>
          <p:cNvPr id="10" name="Content Placeholder 9">
            <a:extLst>
              <a:ext uri="{FF2B5EF4-FFF2-40B4-BE49-F238E27FC236}">
                <a16:creationId xmlns:a16="http://schemas.microsoft.com/office/drawing/2014/main" id="{BFF4D65D-965A-5E86-4D91-C72D1D03A8B9}"/>
              </a:ext>
            </a:extLst>
          </p:cNvPr>
          <p:cNvSpPr>
            <a:spLocks noGrp="1"/>
          </p:cNvSpPr>
          <p:nvPr>
            <p:ph sz="quarter" idx="10" hasCustomPrompt="1"/>
          </p:nvPr>
        </p:nvSpPr>
        <p:spPr>
          <a:xfrm>
            <a:off x="6126163" y="4172990"/>
            <a:ext cx="4805997" cy="2389736"/>
          </a:xfr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78330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a:t>Pitch Deck</a:t>
            </a:r>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58572405"/>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 id="2147483737" r:id="rId18"/>
    <p:sldLayoutId id="2147483738" r:id="rId19"/>
    <p:sldLayoutId id="2147483739" r:id="rId20"/>
    <p:sldLayoutId id="2147483740" r:id="rId21"/>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1.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40D96-BFFB-05BD-30ED-0352500CD058}"/>
              </a:ext>
            </a:extLst>
          </p:cNvPr>
          <p:cNvSpPr>
            <a:spLocks noGrp="1"/>
          </p:cNvSpPr>
          <p:nvPr>
            <p:ph type="title"/>
          </p:nvPr>
        </p:nvSpPr>
        <p:spPr/>
        <p:txBody>
          <a:bodyPr>
            <a:normAutofit/>
          </a:bodyPr>
          <a:lstStyle/>
          <a:p>
            <a:r>
              <a:rPr lang="en-US" b="1" dirty="0">
                <a:solidFill>
                  <a:srgbClr val="002060"/>
                </a:solidFill>
              </a:rPr>
              <a:t>Sales Analysis Project</a:t>
            </a:r>
            <a:br>
              <a:rPr lang="en-US" dirty="0">
                <a:solidFill>
                  <a:srgbClr val="002060"/>
                </a:solidFill>
              </a:rPr>
            </a:br>
            <a:r>
              <a:rPr lang="en-US" sz="3300" i="1" dirty="0">
                <a:solidFill>
                  <a:srgbClr val="002060"/>
                </a:solidFill>
              </a:rPr>
              <a:t>End-to-End Data Analytics Project (2014–2021)</a:t>
            </a:r>
            <a:br>
              <a:rPr lang="en-US" sz="3300" dirty="0">
                <a:solidFill>
                  <a:srgbClr val="002060"/>
                </a:solidFill>
              </a:rPr>
            </a:br>
            <a:r>
              <a:rPr lang="en-US" sz="3300" dirty="0">
                <a:solidFill>
                  <a:srgbClr val="002060"/>
                </a:solidFill>
              </a:rPr>
              <a:t>Prepared by: Top Boy</a:t>
            </a:r>
          </a:p>
        </p:txBody>
      </p:sp>
    </p:spTree>
    <p:extLst>
      <p:ext uri="{BB962C8B-B14F-4D97-AF65-F5344CB8AC3E}">
        <p14:creationId xmlns:p14="http://schemas.microsoft.com/office/powerpoint/2010/main" val="294539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006B40-B840-4A92-810F-D744695CE221}"/>
              </a:ext>
            </a:extLst>
          </p:cNvPr>
          <p:cNvSpPr/>
          <p:nvPr/>
        </p:nvSpPr>
        <p:spPr>
          <a:xfrm>
            <a:off x="231007" y="115504"/>
            <a:ext cx="11694695" cy="6612555"/>
          </a:xfrm>
          <a:prstGeom prst="rect">
            <a:avLst/>
          </a:prstGeom>
          <a:solidFill>
            <a:srgbClr val="B311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E8FD9F2B-DE9D-4E5A-99E1-778BF1EA9E42}"/>
              </a:ext>
            </a:extLst>
          </p:cNvPr>
          <p:cNvPicPr>
            <a:picLocks noChangeAspect="1"/>
          </p:cNvPicPr>
          <p:nvPr/>
        </p:nvPicPr>
        <p:blipFill>
          <a:blip r:embed="rId2"/>
          <a:stretch>
            <a:fillRect/>
          </a:stretch>
        </p:blipFill>
        <p:spPr>
          <a:xfrm>
            <a:off x="331270" y="510139"/>
            <a:ext cx="11498178" cy="6137616"/>
          </a:xfrm>
          <a:prstGeom prst="rect">
            <a:avLst/>
          </a:prstGeom>
        </p:spPr>
      </p:pic>
      <p:sp>
        <p:nvSpPr>
          <p:cNvPr id="5" name="TextBox 4">
            <a:extLst>
              <a:ext uri="{FF2B5EF4-FFF2-40B4-BE49-F238E27FC236}">
                <a16:creationId xmlns:a16="http://schemas.microsoft.com/office/drawing/2014/main" id="{66E79473-9383-4C4F-B293-99B7C6BCFBD6}"/>
              </a:ext>
            </a:extLst>
          </p:cNvPr>
          <p:cNvSpPr txBox="1"/>
          <p:nvPr/>
        </p:nvSpPr>
        <p:spPr>
          <a:xfrm>
            <a:off x="548639" y="115504"/>
            <a:ext cx="2964581" cy="369332"/>
          </a:xfrm>
          <a:prstGeom prst="rect">
            <a:avLst/>
          </a:prstGeom>
          <a:noFill/>
        </p:spPr>
        <p:txBody>
          <a:bodyPr wrap="square" rtlCol="0">
            <a:spAutoFit/>
          </a:bodyPr>
          <a:lstStyle/>
          <a:p>
            <a:r>
              <a:rPr lang="en-US" b="1" dirty="0">
                <a:solidFill>
                  <a:schemeClr val="bg1"/>
                </a:solidFill>
              </a:rPr>
              <a:t>DASHBOARD OVERVIEW</a:t>
            </a:r>
          </a:p>
        </p:txBody>
      </p:sp>
    </p:spTree>
    <p:extLst>
      <p:ext uri="{BB962C8B-B14F-4D97-AF65-F5344CB8AC3E}">
        <p14:creationId xmlns:p14="http://schemas.microsoft.com/office/powerpoint/2010/main" val="3231698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74D05E-8A36-8D9F-519E-DB514A69D886}"/>
              </a:ext>
            </a:extLst>
          </p:cNvPr>
          <p:cNvSpPr>
            <a:spLocks noGrp="1"/>
          </p:cNvSpPr>
          <p:nvPr>
            <p:ph type="title"/>
          </p:nvPr>
        </p:nvSpPr>
        <p:spPr>
          <a:xfrm>
            <a:off x="914399" y="315532"/>
            <a:ext cx="7151572" cy="1188434"/>
          </a:xfrm>
        </p:spPr>
        <p:txBody>
          <a:bodyPr>
            <a:noAutofit/>
          </a:bodyPr>
          <a:lstStyle/>
          <a:p>
            <a:r>
              <a:rPr lang="en-US" sz="4800" b="1" dirty="0">
                <a:solidFill>
                  <a:srgbClr val="E9E6DF"/>
                </a:solidFill>
              </a:rPr>
              <a:t>PROBLEM STATEMENT 1</a:t>
            </a:r>
          </a:p>
        </p:txBody>
      </p:sp>
      <p:sp>
        <p:nvSpPr>
          <p:cNvPr id="4" name="Content Placeholder 3">
            <a:extLst>
              <a:ext uri="{FF2B5EF4-FFF2-40B4-BE49-F238E27FC236}">
                <a16:creationId xmlns:a16="http://schemas.microsoft.com/office/drawing/2014/main" id="{B20C1E08-E337-110E-DB8E-41BA4A3341A1}"/>
              </a:ext>
            </a:extLst>
          </p:cNvPr>
          <p:cNvSpPr>
            <a:spLocks noGrp="1"/>
          </p:cNvSpPr>
          <p:nvPr>
            <p:ph sz="quarter" idx="10"/>
          </p:nvPr>
        </p:nvSpPr>
        <p:spPr>
          <a:xfrm>
            <a:off x="914400" y="2475831"/>
            <a:ext cx="5181600" cy="3128963"/>
          </a:xfrm>
        </p:spPr>
        <p:txBody>
          <a:bodyPr>
            <a:noAutofit/>
          </a:bodyPr>
          <a:lstStyle/>
          <a:p>
            <a:r>
              <a:rPr lang="en-US" dirty="0"/>
              <a:t>The company’s sales data from multiple countries (2014–2021) is stored across separate files with inconsistent formats, making it difficult to analyze overall performance. Because of this, the business cannot easily track revenue trends, compare countries, evaluate product and segment performance, or identify top manufacturers.</a:t>
            </a:r>
          </a:p>
          <a:p>
            <a:endParaRPr lang="en-US" dirty="0"/>
          </a:p>
        </p:txBody>
      </p:sp>
      <p:sp>
        <p:nvSpPr>
          <p:cNvPr id="2" name="Slide Number Placeholder 1">
            <a:extLst>
              <a:ext uri="{FF2B5EF4-FFF2-40B4-BE49-F238E27FC236}">
                <a16:creationId xmlns:a16="http://schemas.microsoft.com/office/drawing/2014/main" id="{00255621-1D81-03E6-507B-CB20E070356A}"/>
              </a:ext>
            </a:extLst>
          </p:cNvPr>
          <p:cNvSpPr>
            <a:spLocks noGrp="1"/>
          </p:cNvSpPr>
          <p:nvPr>
            <p:ph type="sldNum" sz="quarter" idx="4"/>
          </p:nvPr>
        </p:nvSpPr>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542059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74D05E-8A36-8D9F-519E-DB514A69D886}"/>
              </a:ext>
            </a:extLst>
          </p:cNvPr>
          <p:cNvSpPr>
            <a:spLocks noGrp="1"/>
          </p:cNvSpPr>
          <p:nvPr>
            <p:ph type="title"/>
          </p:nvPr>
        </p:nvSpPr>
        <p:spPr>
          <a:xfrm>
            <a:off x="914399" y="315532"/>
            <a:ext cx="7113070" cy="1188434"/>
          </a:xfrm>
        </p:spPr>
        <p:txBody>
          <a:bodyPr>
            <a:noAutofit/>
          </a:bodyPr>
          <a:lstStyle/>
          <a:p>
            <a:r>
              <a:rPr lang="en-US" sz="4800" b="1" dirty="0">
                <a:solidFill>
                  <a:srgbClr val="E9E6DF"/>
                </a:solidFill>
              </a:rPr>
              <a:t>PROBLEM STATEMENT 2</a:t>
            </a:r>
          </a:p>
        </p:txBody>
      </p:sp>
      <p:sp>
        <p:nvSpPr>
          <p:cNvPr id="4" name="Content Placeholder 3">
            <a:extLst>
              <a:ext uri="{FF2B5EF4-FFF2-40B4-BE49-F238E27FC236}">
                <a16:creationId xmlns:a16="http://schemas.microsoft.com/office/drawing/2014/main" id="{B20C1E08-E337-110E-DB8E-41BA4A3341A1}"/>
              </a:ext>
            </a:extLst>
          </p:cNvPr>
          <p:cNvSpPr>
            <a:spLocks noGrp="1"/>
          </p:cNvSpPr>
          <p:nvPr>
            <p:ph sz="quarter" idx="10"/>
          </p:nvPr>
        </p:nvSpPr>
        <p:spPr>
          <a:xfrm>
            <a:off x="914400" y="2475831"/>
            <a:ext cx="5181600" cy="3128963"/>
          </a:xfrm>
        </p:spPr>
        <p:txBody>
          <a:bodyPr>
            <a:noAutofit/>
          </a:bodyPr>
          <a:lstStyle/>
          <a:p>
            <a:r>
              <a:rPr lang="en-US" dirty="0"/>
              <a:t>To solve this, the project aims to clean and unify all sales, geo, manufacturer, and product tables, build a proper data model, and create a Power BI dashboard that clearly answers key business questions such as total revenue, top products, segment performance, urban vs. rural revenue, and year-to-year trends.</a:t>
            </a:r>
          </a:p>
        </p:txBody>
      </p:sp>
      <p:sp>
        <p:nvSpPr>
          <p:cNvPr id="2" name="Slide Number Placeholder 1">
            <a:extLst>
              <a:ext uri="{FF2B5EF4-FFF2-40B4-BE49-F238E27FC236}">
                <a16:creationId xmlns:a16="http://schemas.microsoft.com/office/drawing/2014/main" id="{00255621-1D81-03E6-507B-CB20E070356A}"/>
              </a:ext>
            </a:extLst>
          </p:cNvPr>
          <p:cNvSpPr>
            <a:spLocks noGrp="1"/>
          </p:cNvSpPr>
          <p:nvPr>
            <p:ph type="sldNum" sz="quarter" idx="4"/>
          </p:nvPr>
        </p:nvSpPr>
        <p:spPr/>
        <p:txBody>
          <a:bodyPr/>
          <a:lstStyle/>
          <a:p>
            <a:fld id="{B5CEABB6-07DC-46E8-9B57-56EC44A396E5}" type="slidenum">
              <a:rPr lang="en-US" smtClean="0"/>
              <a:pPr/>
              <a:t>4</a:t>
            </a:fld>
            <a:endParaRPr lang="en-US" dirty="0"/>
          </a:p>
        </p:txBody>
      </p:sp>
    </p:spTree>
    <p:extLst>
      <p:ext uri="{BB962C8B-B14F-4D97-AF65-F5344CB8AC3E}">
        <p14:creationId xmlns:p14="http://schemas.microsoft.com/office/powerpoint/2010/main" val="1206670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74D05E-8A36-8D9F-519E-DB514A69D886}"/>
              </a:ext>
            </a:extLst>
          </p:cNvPr>
          <p:cNvSpPr>
            <a:spLocks noGrp="1"/>
          </p:cNvSpPr>
          <p:nvPr>
            <p:ph type="title"/>
          </p:nvPr>
        </p:nvSpPr>
        <p:spPr>
          <a:xfrm>
            <a:off x="914399" y="315532"/>
            <a:ext cx="6481011" cy="1188434"/>
          </a:xfrm>
        </p:spPr>
        <p:txBody>
          <a:bodyPr>
            <a:noAutofit/>
          </a:bodyPr>
          <a:lstStyle/>
          <a:p>
            <a:r>
              <a:rPr lang="en-US" sz="4800" b="1" dirty="0">
                <a:solidFill>
                  <a:srgbClr val="E9E6DF"/>
                </a:solidFill>
              </a:rPr>
              <a:t>Project Overview</a:t>
            </a:r>
          </a:p>
        </p:txBody>
      </p:sp>
      <p:sp>
        <p:nvSpPr>
          <p:cNvPr id="4" name="Content Placeholder 3">
            <a:extLst>
              <a:ext uri="{FF2B5EF4-FFF2-40B4-BE49-F238E27FC236}">
                <a16:creationId xmlns:a16="http://schemas.microsoft.com/office/drawing/2014/main" id="{B20C1E08-E337-110E-DB8E-41BA4A3341A1}"/>
              </a:ext>
            </a:extLst>
          </p:cNvPr>
          <p:cNvSpPr>
            <a:spLocks noGrp="1"/>
          </p:cNvSpPr>
          <p:nvPr>
            <p:ph sz="quarter" idx="10"/>
          </p:nvPr>
        </p:nvSpPr>
        <p:spPr>
          <a:xfrm>
            <a:off x="914400" y="2475831"/>
            <a:ext cx="5181600" cy="3128963"/>
          </a:xfrm>
        </p:spPr>
        <p:txBody>
          <a:bodyPr/>
          <a:lstStyle/>
          <a:p>
            <a:r>
              <a:rPr lang="en-US" b="1" dirty="0">
                <a:solidFill>
                  <a:schemeClr val="tx2">
                    <a:lumMod val="75000"/>
                  </a:schemeClr>
                </a:solidFill>
              </a:rPr>
              <a:t>Goal:</a:t>
            </a:r>
          </a:p>
          <a:p>
            <a:r>
              <a:rPr lang="en-US" dirty="0"/>
              <a:t>Analyze multi-country sales performance to uncover revenue trends, top products, market behavior, and segment performance.</a:t>
            </a:r>
          </a:p>
          <a:p>
            <a:r>
              <a:rPr lang="en-US" b="1" dirty="0">
                <a:solidFill>
                  <a:schemeClr val="tx2">
                    <a:lumMod val="75000"/>
                  </a:schemeClr>
                </a:solidFill>
              </a:rPr>
              <a:t>Tools: </a:t>
            </a:r>
            <a:r>
              <a:rPr lang="en-US" dirty="0">
                <a:solidFill>
                  <a:schemeClr val="tx2">
                    <a:lumMod val="75000"/>
                  </a:schemeClr>
                </a:solidFill>
              </a:rPr>
              <a:t>Power BI • Power Query • DAX • Data Modeling</a:t>
            </a:r>
          </a:p>
          <a:p>
            <a:endParaRPr lang="en-US" dirty="0"/>
          </a:p>
        </p:txBody>
      </p:sp>
      <p:sp>
        <p:nvSpPr>
          <p:cNvPr id="2" name="Slide Number Placeholder 1">
            <a:extLst>
              <a:ext uri="{FF2B5EF4-FFF2-40B4-BE49-F238E27FC236}">
                <a16:creationId xmlns:a16="http://schemas.microsoft.com/office/drawing/2014/main" id="{00255621-1D81-03E6-507B-CB20E070356A}"/>
              </a:ext>
            </a:extLst>
          </p:cNvPr>
          <p:cNvSpPr>
            <a:spLocks noGrp="1"/>
          </p:cNvSpPr>
          <p:nvPr>
            <p:ph type="sldNum" sz="quarter" idx="4"/>
          </p:nvPr>
        </p:nvSpPr>
        <p:spPr/>
        <p:txBody>
          <a:bodyPr/>
          <a:lstStyle/>
          <a:p>
            <a:fld id="{B5CEABB6-07DC-46E8-9B57-56EC44A396E5}" type="slidenum">
              <a:rPr lang="en-US" smtClean="0"/>
              <a:pPr/>
              <a:t>5</a:t>
            </a:fld>
            <a:endParaRPr lang="en-US" dirty="0"/>
          </a:p>
        </p:txBody>
      </p:sp>
    </p:spTree>
    <p:extLst>
      <p:ext uri="{BB962C8B-B14F-4D97-AF65-F5344CB8AC3E}">
        <p14:creationId xmlns:p14="http://schemas.microsoft.com/office/powerpoint/2010/main" val="1881269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DA461BCA-F7C2-4BED-AE01-EDEDDA039211}"/>
              </a:ext>
            </a:extLst>
          </p:cNvPr>
          <p:cNvSpPr txBox="1">
            <a:spLocks/>
          </p:cNvSpPr>
          <p:nvPr/>
        </p:nvSpPr>
        <p:spPr bwMode="gray">
          <a:xfrm>
            <a:off x="584150" y="550949"/>
            <a:ext cx="9137365" cy="1020460"/>
          </a:xfrm>
          <a:prstGeom prst="rect">
            <a:avLst/>
          </a:prstGeom>
        </p:spPr>
        <p:txBody>
          <a:bodyPr vert="horz" lIns="91440" tIns="45720" rIns="91440" bIns="45720" rtlCol="0" anchor="b">
            <a:normAutofit/>
          </a:bodyPr>
          <a:lstStyle>
            <a:lvl1pPr algn="l" defTabSz="457200" rtl="0" eaLnBrk="1" latinLnBrk="0" hangingPunct="1">
              <a:spcBef>
                <a:spcPct val="0"/>
              </a:spcBef>
              <a:buNone/>
              <a:defRPr sz="48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rgbClr val="E9E6DF"/>
                </a:solidFill>
              </a:rPr>
              <a:t>Data Collection &amp; Merging</a:t>
            </a:r>
          </a:p>
        </p:txBody>
      </p:sp>
      <p:sp>
        <p:nvSpPr>
          <p:cNvPr id="5" name="Title 6">
            <a:extLst>
              <a:ext uri="{FF2B5EF4-FFF2-40B4-BE49-F238E27FC236}">
                <a16:creationId xmlns:a16="http://schemas.microsoft.com/office/drawing/2014/main" id="{D7F5FFD9-D467-479F-994C-B3A2686541FF}"/>
              </a:ext>
            </a:extLst>
          </p:cNvPr>
          <p:cNvSpPr txBox="1">
            <a:spLocks/>
          </p:cNvSpPr>
          <p:nvPr/>
        </p:nvSpPr>
        <p:spPr bwMode="gray">
          <a:xfrm>
            <a:off x="728530" y="4168371"/>
            <a:ext cx="4805997" cy="2689629"/>
          </a:xfrm>
          <a:prstGeom prst="rect">
            <a:avLst/>
          </a:prstGeom>
        </p:spPr>
        <p:txBody>
          <a:bodyPr vert="horz" lIns="91440" tIns="45720" rIns="91440" bIns="45720" rtlCol="0" anchor="b">
            <a:noAutofit/>
          </a:bodyPr>
          <a:lstStyle>
            <a:lvl1pPr algn="l" defTabSz="457200" rtl="0" eaLnBrk="1" latinLnBrk="0" hangingPunct="1">
              <a:spcBef>
                <a:spcPct val="0"/>
              </a:spcBef>
              <a:buNone/>
              <a:defRPr sz="48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170000"/>
              </a:lnSpc>
            </a:pPr>
            <a:r>
              <a:rPr lang="en-US" sz="2000" b="1" dirty="0">
                <a:solidFill>
                  <a:schemeClr val="tx1"/>
                </a:solidFill>
              </a:rPr>
              <a:t>Imported Datasets:</a:t>
            </a:r>
            <a:endParaRPr lang="en-US" sz="2000" dirty="0">
              <a:solidFill>
                <a:schemeClr val="tx1"/>
              </a:solidFill>
            </a:endParaRPr>
          </a:p>
          <a:p>
            <a:pPr marL="342900" indent="-342900">
              <a:lnSpc>
                <a:spcPct val="170000"/>
              </a:lnSpc>
              <a:buFont typeface="Courier New" panose="02070309020205020404" pitchFamily="49" charset="0"/>
              <a:buChar char="o"/>
            </a:pPr>
            <a:r>
              <a:rPr lang="en-US" sz="2000" dirty="0">
                <a:solidFill>
                  <a:schemeClr val="tx1"/>
                </a:solidFill>
              </a:rPr>
              <a:t>Multiple </a:t>
            </a:r>
            <a:r>
              <a:rPr lang="en-US" sz="2000" b="1" dirty="0">
                <a:solidFill>
                  <a:schemeClr val="tx1"/>
                </a:solidFill>
              </a:rPr>
              <a:t>country files</a:t>
            </a:r>
            <a:r>
              <a:rPr lang="en-US" sz="2000" dirty="0">
                <a:solidFill>
                  <a:schemeClr val="tx1"/>
                </a:solidFill>
              </a:rPr>
              <a:t> → appended into </a:t>
            </a:r>
            <a:r>
              <a:rPr lang="en-US" sz="2000" b="1" dirty="0">
                <a:solidFill>
                  <a:schemeClr val="tx1"/>
                </a:solidFill>
              </a:rPr>
              <a:t>Sales Data</a:t>
            </a:r>
            <a:endParaRPr lang="en-US" sz="2000" dirty="0">
              <a:solidFill>
                <a:schemeClr val="tx1"/>
              </a:solidFill>
            </a:endParaRPr>
          </a:p>
          <a:p>
            <a:pPr marL="342900" indent="-342900">
              <a:lnSpc>
                <a:spcPct val="170000"/>
              </a:lnSpc>
              <a:buFont typeface="Courier New" panose="02070309020205020404" pitchFamily="49" charset="0"/>
              <a:buChar char="o"/>
            </a:pPr>
            <a:r>
              <a:rPr lang="en-US" sz="2000" dirty="0">
                <a:solidFill>
                  <a:schemeClr val="tx1"/>
                </a:solidFill>
              </a:rPr>
              <a:t>Imported additional tables:</a:t>
            </a:r>
          </a:p>
          <a:p>
            <a:pPr marL="800100" lvl="1" indent="-342900">
              <a:lnSpc>
                <a:spcPct val="170000"/>
              </a:lnSpc>
              <a:buFont typeface="Courier New" panose="02070309020205020404" pitchFamily="49" charset="0"/>
              <a:buChar char="o"/>
            </a:pPr>
            <a:r>
              <a:rPr lang="en-US" sz="2000" b="1" dirty="0">
                <a:solidFill>
                  <a:schemeClr val="tx1"/>
                </a:solidFill>
              </a:rPr>
              <a:t>Geo</a:t>
            </a:r>
            <a:endParaRPr lang="en-US" sz="2000" dirty="0">
              <a:solidFill>
                <a:schemeClr val="tx1"/>
              </a:solidFill>
            </a:endParaRPr>
          </a:p>
          <a:p>
            <a:pPr marL="800100" lvl="1" indent="-342900">
              <a:lnSpc>
                <a:spcPct val="170000"/>
              </a:lnSpc>
              <a:buFont typeface="Courier New" panose="02070309020205020404" pitchFamily="49" charset="0"/>
              <a:buChar char="o"/>
            </a:pPr>
            <a:r>
              <a:rPr lang="en-US" sz="2000" b="1" dirty="0">
                <a:solidFill>
                  <a:schemeClr val="tx1"/>
                </a:solidFill>
              </a:rPr>
              <a:t>Manufacturer</a:t>
            </a:r>
            <a:endParaRPr lang="en-US" sz="2000" dirty="0">
              <a:solidFill>
                <a:schemeClr val="tx1"/>
              </a:solidFill>
            </a:endParaRPr>
          </a:p>
          <a:p>
            <a:pPr marL="800100" lvl="1" indent="-342900">
              <a:lnSpc>
                <a:spcPct val="170000"/>
              </a:lnSpc>
              <a:buFont typeface="Courier New" panose="02070309020205020404" pitchFamily="49" charset="0"/>
              <a:buChar char="o"/>
            </a:pPr>
            <a:r>
              <a:rPr lang="en-US" sz="2000" b="1" dirty="0">
                <a:solidFill>
                  <a:schemeClr val="tx1"/>
                </a:solidFill>
              </a:rPr>
              <a:t>Table_01</a:t>
            </a:r>
            <a:endParaRPr lang="en-US" sz="2000" dirty="0">
              <a:solidFill>
                <a:schemeClr val="tx1"/>
              </a:solidFill>
            </a:endParaRPr>
          </a:p>
          <a:p>
            <a:pPr>
              <a:lnSpc>
                <a:spcPct val="170000"/>
              </a:lnSpc>
            </a:pPr>
            <a:endParaRPr lang="en-US" sz="2000" b="1" dirty="0">
              <a:solidFill>
                <a:schemeClr val="tx1"/>
              </a:solidFill>
            </a:endParaRPr>
          </a:p>
        </p:txBody>
      </p:sp>
      <p:sp>
        <p:nvSpPr>
          <p:cNvPr id="15" name="Rectangle 14">
            <a:extLst>
              <a:ext uri="{FF2B5EF4-FFF2-40B4-BE49-F238E27FC236}">
                <a16:creationId xmlns:a16="http://schemas.microsoft.com/office/drawing/2014/main" id="{23BE2838-4F69-4F69-A0F7-0560323E9490}"/>
              </a:ext>
            </a:extLst>
          </p:cNvPr>
          <p:cNvSpPr/>
          <p:nvPr/>
        </p:nvSpPr>
        <p:spPr>
          <a:xfrm>
            <a:off x="7413528" y="2630904"/>
            <a:ext cx="2692998" cy="3804483"/>
          </a:xfrm>
          <a:prstGeom prst="rect">
            <a:avLst/>
          </a:prstGeom>
          <a:solidFill>
            <a:srgbClr val="642F6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035FFDF-96D8-4F1C-8691-11A8F19D977B}"/>
              </a:ext>
            </a:extLst>
          </p:cNvPr>
          <p:cNvPicPr>
            <a:picLocks noChangeAspect="1"/>
          </p:cNvPicPr>
          <p:nvPr/>
        </p:nvPicPr>
        <p:blipFill>
          <a:blip r:embed="rId3"/>
          <a:stretch>
            <a:fillRect/>
          </a:stretch>
        </p:blipFill>
        <p:spPr>
          <a:xfrm>
            <a:off x="7478735" y="2708629"/>
            <a:ext cx="2562583" cy="3648584"/>
          </a:xfrm>
          <a:prstGeom prst="rect">
            <a:avLst/>
          </a:prstGeom>
        </p:spPr>
      </p:pic>
    </p:spTree>
    <p:extLst>
      <p:ext uri="{BB962C8B-B14F-4D97-AF65-F5344CB8AC3E}">
        <p14:creationId xmlns:p14="http://schemas.microsoft.com/office/powerpoint/2010/main" val="4293742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DA461BCA-F7C2-4BED-AE01-EDEDDA039211}"/>
              </a:ext>
            </a:extLst>
          </p:cNvPr>
          <p:cNvSpPr txBox="1">
            <a:spLocks/>
          </p:cNvSpPr>
          <p:nvPr/>
        </p:nvSpPr>
        <p:spPr bwMode="gray">
          <a:xfrm>
            <a:off x="584150" y="550949"/>
            <a:ext cx="9137365" cy="1020460"/>
          </a:xfrm>
          <a:prstGeom prst="rect">
            <a:avLst/>
          </a:prstGeom>
        </p:spPr>
        <p:txBody>
          <a:bodyPr vert="horz" lIns="91440" tIns="45720" rIns="91440" bIns="45720" rtlCol="0" anchor="b">
            <a:normAutofit/>
          </a:bodyPr>
          <a:lstStyle>
            <a:lvl1pPr algn="l" defTabSz="457200" rtl="0" eaLnBrk="1" latinLnBrk="0" hangingPunct="1">
              <a:spcBef>
                <a:spcPct val="0"/>
              </a:spcBef>
              <a:buNone/>
              <a:defRPr sz="48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rgbClr val="E9E6DF"/>
                </a:solidFill>
              </a:rPr>
              <a:t>Data Collection &amp; Merging</a:t>
            </a:r>
          </a:p>
        </p:txBody>
      </p:sp>
      <p:sp>
        <p:nvSpPr>
          <p:cNvPr id="5" name="Title 6">
            <a:extLst>
              <a:ext uri="{FF2B5EF4-FFF2-40B4-BE49-F238E27FC236}">
                <a16:creationId xmlns:a16="http://schemas.microsoft.com/office/drawing/2014/main" id="{D7F5FFD9-D467-479F-994C-B3A2686541FF}"/>
              </a:ext>
            </a:extLst>
          </p:cNvPr>
          <p:cNvSpPr txBox="1">
            <a:spLocks/>
          </p:cNvSpPr>
          <p:nvPr/>
        </p:nvSpPr>
        <p:spPr bwMode="gray">
          <a:xfrm>
            <a:off x="728530" y="3879614"/>
            <a:ext cx="4805997" cy="2689629"/>
          </a:xfrm>
          <a:prstGeom prst="rect">
            <a:avLst/>
          </a:prstGeom>
        </p:spPr>
        <p:txBody>
          <a:bodyPr vert="horz" lIns="91440" tIns="45720" rIns="91440" bIns="45720" rtlCol="0" anchor="b">
            <a:noAutofit/>
          </a:bodyPr>
          <a:lstStyle>
            <a:lvl1pPr algn="l" defTabSz="457200" rtl="0" eaLnBrk="1" latinLnBrk="0" hangingPunct="1">
              <a:spcBef>
                <a:spcPct val="0"/>
              </a:spcBef>
              <a:buNone/>
              <a:defRPr sz="48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150000"/>
              </a:lnSpc>
            </a:pPr>
            <a:r>
              <a:rPr lang="en-US" sz="2000" b="1" dirty="0">
                <a:solidFill>
                  <a:schemeClr val="tx1"/>
                </a:solidFill>
              </a:rPr>
              <a:t>Relationship Setup:</a:t>
            </a:r>
            <a:br>
              <a:rPr lang="en-US" sz="2000" dirty="0">
                <a:solidFill>
                  <a:schemeClr val="tx1"/>
                </a:solidFill>
              </a:rPr>
            </a:br>
            <a:r>
              <a:rPr lang="en-US" sz="2000" dirty="0">
                <a:solidFill>
                  <a:schemeClr val="tx1"/>
                </a:solidFill>
              </a:rPr>
              <a:t>Sales Data connected to:</a:t>
            </a:r>
          </a:p>
          <a:p>
            <a:pPr marL="342900" indent="-342900">
              <a:lnSpc>
                <a:spcPct val="150000"/>
              </a:lnSpc>
              <a:buFont typeface="Courier New" panose="02070309020205020404" pitchFamily="49" charset="0"/>
              <a:buChar char="o"/>
            </a:pPr>
            <a:r>
              <a:rPr lang="en-US" sz="2000" b="1" dirty="0">
                <a:solidFill>
                  <a:schemeClr val="tx1"/>
                </a:solidFill>
              </a:rPr>
              <a:t>Sales Data - Geo</a:t>
            </a:r>
            <a:r>
              <a:rPr lang="en-US" sz="2000" dirty="0">
                <a:solidFill>
                  <a:schemeClr val="tx1"/>
                </a:solidFill>
              </a:rPr>
              <a:t> (*..*)</a:t>
            </a:r>
          </a:p>
          <a:p>
            <a:pPr marL="342900" indent="-342900">
              <a:lnSpc>
                <a:spcPct val="150000"/>
              </a:lnSpc>
              <a:buFont typeface="Courier New" panose="02070309020205020404" pitchFamily="49" charset="0"/>
              <a:buChar char="o"/>
            </a:pPr>
            <a:r>
              <a:rPr lang="en-US" sz="2000" b="1" dirty="0">
                <a:solidFill>
                  <a:schemeClr val="tx1"/>
                </a:solidFill>
              </a:rPr>
              <a:t>Sales Data – Table_01 </a:t>
            </a:r>
            <a:r>
              <a:rPr lang="en-US" sz="2000" dirty="0">
                <a:solidFill>
                  <a:schemeClr val="tx1"/>
                </a:solidFill>
              </a:rPr>
              <a:t>(*..1)</a:t>
            </a:r>
          </a:p>
          <a:p>
            <a:pPr marL="342900" indent="-342900">
              <a:lnSpc>
                <a:spcPct val="150000"/>
              </a:lnSpc>
              <a:buFont typeface="Courier New" panose="02070309020205020404" pitchFamily="49" charset="0"/>
              <a:buChar char="o"/>
            </a:pPr>
            <a:r>
              <a:rPr lang="en-US" sz="2000" b="1" dirty="0">
                <a:solidFill>
                  <a:schemeClr val="tx1"/>
                </a:solidFill>
              </a:rPr>
              <a:t>Table_01 – Manufacturer </a:t>
            </a:r>
            <a:r>
              <a:rPr lang="en-US" sz="2000" dirty="0">
                <a:solidFill>
                  <a:schemeClr val="tx1"/>
                </a:solidFill>
              </a:rPr>
              <a:t>(*..1)</a:t>
            </a:r>
          </a:p>
          <a:p>
            <a:pPr>
              <a:lnSpc>
                <a:spcPct val="150000"/>
              </a:lnSpc>
            </a:pPr>
            <a:r>
              <a:rPr lang="en-US" sz="2000" i="1" dirty="0">
                <a:solidFill>
                  <a:schemeClr val="tx1"/>
                </a:solidFill>
              </a:rPr>
              <a:t>Star schema structure created for optimal reporting.</a:t>
            </a:r>
            <a:endParaRPr lang="en-US" sz="2000" dirty="0">
              <a:solidFill>
                <a:schemeClr val="tx1"/>
              </a:solidFill>
            </a:endParaRPr>
          </a:p>
          <a:p>
            <a:pPr>
              <a:lnSpc>
                <a:spcPct val="170000"/>
              </a:lnSpc>
            </a:pPr>
            <a:endParaRPr lang="en-US" sz="2000" b="1" dirty="0">
              <a:solidFill>
                <a:schemeClr val="tx1"/>
              </a:solidFill>
            </a:endParaRPr>
          </a:p>
        </p:txBody>
      </p:sp>
      <p:sp>
        <p:nvSpPr>
          <p:cNvPr id="6" name="Rectangle 5">
            <a:extLst>
              <a:ext uri="{FF2B5EF4-FFF2-40B4-BE49-F238E27FC236}">
                <a16:creationId xmlns:a16="http://schemas.microsoft.com/office/drawing/2014/main" id="{FED96BD5-2682-4CAB-9F4E-B1B6459B5842}"/>
              </a:ext>
            </a:extLst>
          </p:cNvPr>
          <p:cNvSpPr/>
          <p:nvPr/>
        </p:nvSpPr>
        <p:spPr>
          <a:xfrm>
            <a:off x="5165558" y="2665963"/>
            <a:ext cx="6144126" cy="3494206"/>
          </a:xfrm>
          <a:prstGeom prst="rect">
            <a:avLst/>
          </a:prstGeom>
          <a:solidFill>
            <a:srgbClr val="642F6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D1F9676-1973-4EBA-823B-D0B1D6FD965B}"/>
              </a:ext>
            </a:extLst>
          </p:cNvPr>
          <p:cNvPicPr>
            <a:picLocks noChangeAspect="1"/>
          </p:cNvPicPr>
          <p:nvPr/>
        </p:nvPicPr>
        <p:blipFill>
          <a:blip r:embed="rId3"/>
          <a:stretch>
            <a:fillRect/>
          </a:stretch>
        </p:blipFill>
        <p:spPr>
          <a:xfrm>
            <a:off x="5318141" y="2785060"/>
            <a:ext cx="5855001" cy="3245017"/>
          </a:xfrm>
          <a:prstGeom prst="rect">
            <a:avLst/>
          </a:prstGeom>
        </p:spPr>
      </p:pic>
    </p:spTree>
    <p:extLst>
      <p:ext uri="{BB962C8B-B14F-4D97-AF65-F5344CB8AC3E}">
        <p14:creationId xmlns:p14="http://schemas.microsoft.com/office/powerpoint/2010/main" val="2009562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CB9CC1B9-C875-481A-BECE-614C6D5DF58C}"/>
              </a:ext>
            </a:extLst>
          </p:cNvPr>
          <p:cNvSpPr txBox="1">
            <a:spLocks/>
          </p:cNvSpPr>
          <p:nvPr/>
        </p:nvSpPr>
        <p:spPr bwMode="gray">
          <a:xfrm>
            <a:off x="680403" y="529347"/>
            <a:ext cx="9137365" cy="1020460"/>
          </a:xfrm>
          <a:prstGeom prst="rect">
            <a:avLst/>
          </a:prstGeom>
        </p:spPr>
        <p:txBody>
          <a:bodyPr vert="horz" lIns="91440" tIns="45720" rIns="91440" bIns="45720" rtlCol="0" anchor="b">
            <a:normAutofit/>
          </a:bodyPr>
          <a:lstStyle>
            <a:lvl1pPr algn="l" defTabSz="457200" rtl="0" eaLnBrk="1" latinLnBrk="0" hangingPunct="1">
              <a:spcBef>
                <a:spcPct val="0"/>
              </a:spcBef>
              <a:buNone/>
              <a:defRPr sz="48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rgbClr val="E9E6DF"/>
                </a:solidFill>
              </a:rPr>
              <a:t>Data Cleaning (Sales Data)</a:t>
            </a:r>
          </a:p>
        </p:txBody>
      </p:sp>
      <p:sp>
        <p:nvSpPr>
          <p:cNvPr id="13" name="TextBox 12">
            <a:extLst>
              <a:ext uri="{FF2B5EF4-FFF2-40B4-BE49-F238E27FC236}">
                <a16:creationId xmlns:a16="http://schemas.microsoft.com/office/drawing/2014/main" id="{ED31FBCB-7C45-4657-BD10-6BE3250C0F61}"/>
              </a:ext>
            </a:extLst>
          </p:cNvPr>
          <p:cNvSpPr txBox="1"/>
          <p:nvPr/>
        </p:nvSpPr>
        <p:spPr>
          <a:xfrm>
            <a:off x="536024" y="2207560"/>
            <a:ext cx="6096000" cy="4650440"/>
          </a:xfrm>
          <a:prstGeom prst="rect">
            <a:avLst/>
          </a:prstGeom>
          <a:noFill/>
        </p:spPr>
        <p:txBody>
          <a:bodyPr wrap="square">
            <a:spAutoFit/>
          </a:bodyPr>
          <a:lstStyle/>
          <a:p>
            <a:pPr>
              <a:lnSpc>
                <a:spcPct val="150000"/>
              </a:lnSpc>
            </a:pPr>
            <a:r>
              <a:rPr lang="en-US" sz="2000" b="1" dirty="0"/>
              <a:t>Cleaning Steps Performed:</a:t>
            </a:r>
            <a:endParaRPr lang="en-US" sz="2000" dirty="0"/>
          </a:p>
          <a:p>
            <a:pPr marL="342900" indent="-342900">
              <a:lnSpc>
                <a:spcPct val="150000"/>
              </a:lnSpc>
              <a:buFont typeface="Courier New" panose="02070309020205020404" pitchFamily="49" charset="0"/>
              <a:buChar char="o"/>
            </a:pPr>
            <a:r>
              <a:rPr lang="en-US" sz="2000" dirty="0"/>
              <a:t>Standardized country name:</a:t>
            </a:r>
          </a:p>
          <a:p>
            <a:pPr marL="800100" lvl="1" indent="-342900">
              <a:lnSpc>
                <a:spcPct val="150000"/>
              </a:lnSpc>
              <a:buFont typeface="Courier New" panose="02070309020205020404" pitchFamily="49" charset="0"/>
              <a:buChar char="o"/>
            </a:pPr>
            <a:r>
              <a:rPr lang="en-US" sz="2000" dirty="0"/>
              <a:t>Changed </a:t>
            </a:r>
            <a:r>
              <a:rPr lang="en-US" sz="2000" b="1" dirty="0"/>
              <a:t>"United state" → "USA"</a:t>
            </a:r>
            <a:endParaRPr lang="en-US" sz="2000" dirty="0"/>
          </a:p>
          <a:p>
            <a:pPr marL="342900" indent="-342900">
              <a:lnSpc>
                <a:spcPct val="150000"/>
              </a:lnSpc>
              <a:buFont typeface="Courier New" panose="02070309020205020404" pitchFamily="49" charset="0"/>
              <a:buChar char="o"/>
            </a:pPr>
            <a:r>
              <a:rPr lang="en-US" sz="2000" dirty="0"/>
              <a:t>Removed empty rows</a:t>
            </a:r>
          </a:p>
          <a:p>
            <a:pPr marL="342900" indent="-342900">
              <a:lnSpc>
                <a:spcPct val="150000"/>
              </a:lnSpc>
              <a:buFont typeface="Courier New" panose="02070309020205020404" pitchFamily="49" charset="0"/>
              <a:buChar char="o"/>
            </a:pPr>
            <a:r>
              <a:rPr lang="en-US" sz="2000" dirty="0"/>
              <a:t>Validated data types</a:t>
            </a:r>
          </a:p>
          <a:p>
            <a:pPr marL="342900" indent="-342900">
              <a:lnSpc>
                <a:spcPct val="150000"/>
              </a:lnSpc>
              <a:buFont typeface="Courier New" panose="02070309020205020404" pitchFamily="49" charset="0"/>
              <a:buChar char="o"/>
            </a:pPr>
            <a:r>
              <a:rPr lang="en-US" sz="2000" dirty="0"/>
              <a:t>Ensured correct revenue, date, and category formats</a:t>
            </a:r>
          </a:p>
          <a:p>
            <a:pPr>
              <a:lnSpc>
                <a:spcPct val="150000"/>
              </a:lnSpc>
            </a:pPr>
            <a:r>
              <a:rPr lang="en-US" sz="2000" b="1" dirty="0"/>
              <a:t>Outcome:</a:t>
            </a:r>
            <a:br>
              <a:rPr lang="en-US" sz="2000" dirty="0"/>
            </a:br>
            <a:r>
              <a:rPr lang="en-US" sz="2000" dirty="0"/>
              <a:t>A consistent and unified </a:t>
            </a:r>
            <a:r>
              <a:rPr lang="en-US" sz="2000" b="1" dirty="0"/>
              <a:t>Sales Fact Table</a:t>
            </a:r>
            <a:r>
              <a:rPr lang="en-US" sz="2000" dirty="0"/>
              <a:t> ready for analysis.</a:t>
            </a:r>
          </a:p>
        </p:txBody>
      </p:sp>
    </p:spTree>
    <p:extLst>
      <p:ext uri="{BB962C8B-B14F-4D97-AF65-F5344CB8AC3E}">
        <p14:creationId xmlns:p14="http://schemas.microsoft.com/office/powerpoint/2010/main" val="56176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CB9CC1B9-C875-481A-BECE-614C6D5DF58C}"/>
              </a:ext>
            </a:extLst>
          </p:cNvPr>
          <p:cNvSpPr txBox="1">
            <a:spLocks/>
          </p:cNvSpPr>
          <p:nvPr/>
        </p:nvSpPr>
        <p:spPr bwMode="gray">
          <a:xfrm>
            <a:off x="677086" y="856506"/>
            <a:ext cx="10837828" cy="651450"/>
          </a:xfrm>
          <a:prstGeom prst="rect">
            <a:avLst/>
          </a:prstGeom>
        </p:spPr>
        <p:txBody>
          <a:bodyPr vert="horz" lIns="91440" tIns="45720" rIns="91440" bIns="45720" rtlCol="0" anchor="b">
            <a:normAutofit fontScale="77500" lnSpcReduction="20000"/>
          </a:bodyPr>
          <a:lstStyle>
            <a:lvl1pPr algn="l" defTabSz="457200" rtl="0" eaLnBrk="1" latinLnBrk="0" hangingPunct="1">
              <a:spcBef>
                <a:spcPct val="0"/>
              </a:spcBef>
              <a:buNone/>
              <a:defRPr sz="48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rgbClr val="E9E6DF"/>
                </a:solidFill>
              </a:rPr>
              <a:t>Data Cleaning (Manufacturer &amp; Geo Tables)</a:t>
            </a:r>
          </a:p>
        </p:txBody>
      </p:sp>
      <p:sp>
        <p:nvSpPr>
          <p:cNvPr id="6" name="TextBox 5">
            <a:extLst>
              <a:ext uri="{FF2B5EF4-FFF2-40B4-BE49-F238E27FC236}">
                <a16:creationId xmlns:a16="http://schemas.microsoft.com/office/drawing/2014/main" id="{87ECC4F9-11BF-42C5-9B21-D02B1EE0D3C3}"/>
              </a:ext>
            </a:extLst>
          </p:cNvPr>
          <p:cNvSpPr txBox="1"/>
          <p:nvPr/>
        </p:nvSpPr>
        <p:spPr>
          <a:xfrm>
            <a:off x="677086" y="2915653"/>
            <a:ext cx="6096000" cy="3265253"/>
          </a:xfrm>
          <a:prstGeom prst="rect">
            <a:avLst/>
          </a:prstGeom>
          <a:noFill/>
        </p:spPr>
        <p:txBody>
          <a:bodyPr wrap="square">
            <a:spAutoFit/>
          </a:bodyPr>
          <a:lstStyle/>
          <a:p>
            <a:pPr>
              <a:lnSpc>
                <a:spcPct val="150000"/>
              </a:lnSpc>
            </a:pPr>
            <a:r>
              <a:rPr lang="en-US" sz="2000" b="1" dirty="0"/>
              <a:t>Manufacturer Table</a:t>
            </a:r>
          </a:p>
          <a:p>
            <a:pPr marL="342900" indent="-342900">
              <a:lnSpc>
                <a:spcPct val="150000"/>
              </a:lnSpc>
              <a:buFont typeface="Courier New" panose="02070309020205020404" pitchFamily="49" charset="0"/>
              <a:buChar char="o"/>
            </a:pPr>
            <a:r>
              <a:rPr lang="en-US" sz="2000" dirty="0"/>
              <a:t>Deleted empty rows</a:t>
            </a:r>
          </a:p>
          <a:p>
            <a:pPr marL="342900" indent="-342900">
              <a:lnSpc>
                <a:spcPct val="150000"/>
              </a:lnSpc>
              <a:buFont typeface="Courier New" panose="02070309020205020404" pitchFamily="49" charset="0"/>
              <a:buChar char="o"/>
            </a:pPr>
            <a:r>
              <a:rPr lang="en-US" sz="2000" b="1" dirty="0"/>
              <a:t>Transposed table</a:t>
            </a:r>
            <a:endParaRPr lang="en-US" sz="2000" dirty="0"/>
          </a:p>
          <a:p>
            <a:pPr marL="342900" indent="-342900">
              <a:lnSpc>
                <a:spcPct val="150000"/>
              </a:lnSpc>
              <a:buFont typeface="Courier New" panose="02070309020205020404" pitchFamily="49" charset="0"/>
              <a:buChar char="o"/>
            </a:pPr>
            <a:r>
              <a:rPr lang="en-US" sz="2000" dirty="0"/>
              <a:t>Removed empty rows again</a:t>
            </a:r>
          </a:p>
          <a:p>
            <a:pPr marL="342900" indent="-342900">
              <a:lnSpc>
                <a:spcPct val="150000"/>
              </a:lnSpc>
              <a:buFont typeface="Courier New" panose="02070309020205020404" pitchFamily="49" charset="0"/>
              <a:buChar char="o"/>
            </a:pPr>
            <a:r>
              <a:rPr lang="en-US" sz="2000" dirty="0"/>
              <a:t>Deleted redundant columns </a:t>
            </a:r>
          </a:p>
          <a:p>
            <a:pPr>
              <a:lnSpc>
                <a:spcPct val="150000"/>
              </a:lnSpc>
            </a:pPr>
            <a:r>
              <a:rPr lang="en-US" sz="2000" dirty="0"/>
              <a:t>(manufacturer logo, duplicate lists)</a:t>
            </a:r>
          </a:p>
          <a:p>
            <a:pPr marL="342900" indent="-342900">
              <a:lnSpc>
                <a:spcPct val="150000"/>
              </a:lnSpc>
              <a:buFont typeface="Courier New" panose="02070309020205020404" pitchFamily="49" charset="0"/>
              <a:buChar char="o"/>
            </a:pPr>
            <a:r>
              <a:rPr lang="en-US" sz="2000" dirty="0"/>
              <a:t>Used </a:t>
            </a:r>
            <a:r>
              <a:rPr lang="en-US" sz="2000" b="1" dirty="0"/>
              <a:t>first row as header</a:t>
            </a:r>
            <a:endParaRPr lang="en-US" sz="2000" dirty="0"/>
          </a:p>
        </p:txBody>
      </p:sp>
      <p:sp>
        <p:nvSpPr>
          <p:cNvPr id="7" name="TextBox 6">
            <a:extLst>
              <a:ext uri="{FF2B5EF4-FFF2-40B4-BE49-F238E27FC236}">
                <a16:creationId xmlns:a16="http://schemas.microsoft.com/office/drawing/2014/main" id="{8C43147B-02EF-4386-999D-EF1780A87F4D}"/>
              </a:ext>
            </a:extLst>
          </p:cNvPr>
          <p:cNvSpPr txBox="1"/>
          <p:nvPr/>
        </p:nvSpPr>
        <p:spPr>
          <a:xfrm>
            <a:off x="6481010" y="2949161"/>
            <a:ext cx="6096000" cy="3323987"/>
          </a:xfrm>
          <a:prstGeom prst="rect">
            <a:avLst/>
          </a:prstGeom>
          <a:noFill/>
        </p:spPr>
        <p:txBody>
          <a:bodyPr wrap="square">
            <a:spAutoFit/>
          </a:bodyPr>
          <a:lstStyle/>
          <a:p>
            <a:r>
              <a:rPr lang="en-US" sz="2000" b="1" dirty="0"/>
              <a:t>Geo Table</a:t>
            </a:r>
          </a:p>
          <a:p>
            <a:pPr marL="342900" indent="-342900">
              <a:lnSpc>
                <a:spcPct val="150000"/>
              </a:lnSpc>
              <a:buFont typeface="Courier New" panose="02070309020205020404" pitchFamily="49" charset="0"/>
              <a:buChar char="o"/>
            </a:pPr>
            <a:r>
              <a:rPr lang="en-US" sz="2000" dirty="0"/>
              <a:t>Removed empty rows</a:t>
            </a:r>
          </a:p>
          <a:p>
            <a:pPr marL="342900" indent="-342900">
              <a:buFont typeface="Courier New" panose="02070309020205020404" pitchFamily="49" charset="0"/>
              <a:buChar char="o"/>
            </a:pPr>
            <a:r>
              <a:rPr lang="en-US" sz="2000" dirty="0"/>
              <a:t>Removed </a:t>
            </a:r>
            <a:r>
              <a:rPr lang="en-US" sz="2000" b="1" dirty="0"/>
              <a:t>top row 1</a:t>
            </a:r>
            <a:r>
              <a:rPr lang="en-US" sz="2000" dirty="0"/>
              <a:t> (unnecessary labels)</a:t>
            </a:r>
          </a:p>
          <a:p>
            <a:pPr marL="342900" indent="-342900">
              <a:buFont typeface="Courier New" panose="02070309020205020404" pitchFamily="49" charset="0"/>
              <a:buChar char="o"/>
            </a:pPr>
            <a:r>
              <a:rPr lang="en-US" sz="2000" dirty="0"/>
              <a:t>Used </a:t>
            </a:r>
            <a:r>
              <a:rPr lang="en-US" sz="2000" b="1" dirty="0"/>
              <a:t>first row as header</a:t>
            </a:r>
            <a:endParaRPr lang="en-US" sz="2000" dirty="0"/>
          </a:p>
          <a:p>
            <a:pPr marL="342900" indent="-342900">
              <a:buFont typeface="Courier New" panose="02070309020205020404" pitchFamily="49" charset="0"/>
              <a:buChar char="o"/>
            </a:pPr>
            <a:r>
              <a:rPr lang="en-US" sz="2000" dirty="0"/>
              <a:t>Split the </a:t>
            </a:r>
            <a:r>
              <a:rPr lang="en-US" sz="2000" i="1" dirty="0"/>
              <a:t>City</a:t>
            </a:r>
            <a:r>
              <a:rPr lang="en-US" sz="2000" dirty="0"/>
              <a:t> column → deleted </a:t>
            </a:r>
          </a:p>
          <a:p>
            <a:r>
              <a:rPr lang="en-US" sz="2000" dirty="0"/>
              <a:t>unwanted </a:t>
            </a:r>
            <a:r>
              <a:rPr lang="en-US" sz="2000" i="1" dirty="0"/>
              <a:t>City.2</a:t>
            </a:r>
            <a:endParaRPr lang="en-US" sz="2000" dirty="0"/>
          </a:p>
          <a:p>
            <a:pPr marL="342900" indent="-342900">
              <a:buFont typeface="Courier New" panose="02070309020205020404" pitchFamily="49" charset="0"/>
              <a:buChar char="o"/>
            </a:pPr>
            <a:r>
              <a:rPr lang="en-US" sz="2000" dirty="0"/>
              <a:t>Renamed </a:t>
            </a:r>
            <a:r>
              <a:rPr lang="en-US" sz="2000" i="1" dirty="0"/>
              <a:t>City.1</a:t>
            </a:r>
            <a:endParaRPr lang="en-US" sz="2000" dirty="0"/>
          </a:p>
          <a:p>
            <a:pPr marL="342900" indent="-342900">
              <a:buFont typeface="Courier New" panose="02070309020205020404" pitchFamily="49" charset="0"/>
              <a:buChar char="o"/>
            </a:pPr>
            <a:r>
              <a:rPr lang="en-US" sz="2000" dirty="0"/>
              <a:t>Removed empty rows in </a:t>
            </a:r>
            <a:r>
              <a:rPr lang="en-US" sz="2000" i="1" dirty="0"/>
              <a:t>Country</a:t>
            </a:r>
            <a:endParaRPr lang="en-US" sz="2000" dirty="0"/>
          </a:p>
          <a:p>
            <a:pPr marL="342900" indent="-342900">
              <a:buFont typeface="Courier New" panose="02070309020205020404" pitchFamily="49" charset="0"/>
              <a:buChar char="o"/>
            </a:pPr>
            <a:r>
              <a:rPr lang="en-US" sz="2000" dirty="0"/>
              <a:t>Deleted </a:t>
            </a:r>
            <a:r>
              <a:rPr lang="en-US" sz="2000" b="1" dirty="0"/>
              <a:t>unwanted countries</a:t>
            </a:r>
            <a:endParaRPr lang="en-US" sz="2000" dirty="0"/>
          </a:p>
          <a:p>
            <a:endParaRPr lang="en-US" sz="2000" dirty="0"/>
          </a:p>
        </p:txBody>
      </p:sp>
    </p:spTree>
    <p:extLst>
      <p:ext uri="{BB962C8B-B14F-4D97-AF65-F5344CB8AC3E}">
        <p14:creationId xmlns:p14="http://schemas.microsoft.com/office/powerpoint/2010/main" val="26751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CB9CC1B9-C875-481A-BECE-614C6D5DF58C}"/>
              </a:ext>
            </a:extLst>
          </p:cNvPr>
          <p:cNvSpPr txBox="1">
            <a:spLocks/>
          </p:cNvSpPr>
          <p:nvPr/>
        </p:nvSpPr>
        <p:spPr bwMode="gray">
          <a:xfrm>
            <a:off x="677086" y="882315"/>
            <a:ext cx="10837828" cy="651450"/>
          </a:xfrm>
          <a:prstGeom prst="rect">
            <a:avLst/>
          </a:prstGeom>
        </p:spPr>
        <p:txBody>
          <a:bodyPr vert="horz" lIns="91440" tIns="45720" rIns="91440" bIns="45720" rtlCol="0" anchor="b">
            <a:normAutofit fontScale="85000" lnSpcReduction="20000"/>
          </a:bodyPr>
          <a:lstStyle>
            <a:lvl1pPr algn="l" defTabSz="457200" rtl="0" eaLnBrk="1" latinLnBrk="0" hangingPunct="1">
              <a:spcBef>
                <a:spcPct val="0"/>
              </a:spcBef>
              <a:buNone/>
              <a:defRPr sz="48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rgbClr val="E9E6DF"/>
                </a:solidFill>
              </a:rPr>
              <a:t>Data Cleaning (Table_01)</a:t>
            </a:r>
          </a:p>
        </p:txBody>
      </p:sp>
      <p:sp>
        <p:nvSpPr>
          <p:cNvPr id="6" name="TextBox 5">
            <a:extLst>
              <a:ext uri="{FF2B5EF4-FFF2-40B4-BE49-F238E27FC236}">
                <a16:creationId xmlns:a16="http://schemas.microsoft.com/office/drawing/2014/main" id="{87ECC4F9-11BF-42C5-9B21-D02B1EE0D3C3}"/>
              </a:ext>
            </a:extLst>
          </p:cNvPr>
          <p:cNvSpPr txBox="1"/>
          <p:nvPr/>
        </p:nvSpPr>
        <p:spPr>
          <a:xfrm>
            <a:off x="596875" y="2355100"/>
            <a:ext cx="9025070" cy="3727111"/>
          </a:xfrm>
          <a:prstGeom prst="rect">
            <a:avLst/>
          </a:prstGeom>
          <a:noFill/>
        </p:spPr>
        <p:txBody>
          <a:bodyPr wrap="square">
            <a:spAutoFit/>
          </a:bodyPr>
          <a:lstStyle/>
          <a:p>
            <a:pPr>
              <a:lnSpc>
                <a:spcPct val="150000"/>
              </a:lnSpc>
            </a:pPr>
            <a:r>
              <a:rPr lang="en-US" sz="2000" b="1" dirty="0"/>
              <a:t>Table_01 Preparation Steps:</a:t>
            </a:r>
            <a:endParaRPr lang="en-US" sz="2000" dirty="0"/>
          </a:p>
          <a:p>
            <a:pPr marL="342900" indent="-342900">
              <a:lnSpc>
                <a:spcPct val="150000"/>
              </a:lnSpc>
              <a:buFont typeface="Courier New" panose="02070309020205020404" pitchFamily="49" charset="0"/>
              <a:buChar char="o"/>
            </a:pPr>
            <a:r>
              <a:rPr lang="en-US" sz="2000" dirty="0"/>
              <a:t>Filled down the </a:t>
            </a:r>
            <a:r>
              <a:rPr lang="en-US" sz="2000" b="1" dirty="0"/>
              <a:t>Category</a:t>
            </a:r>
            <a:r>
              <a:rPr lang="en-US" sz="2000" dirty="0"/>
              <a:t> column</a:t>
            </a:r>
          </a:p>
          <a:p>
            <a:pPr marL="342900" indent="-342900">
              <a:lnSpc>
                <a:spcPct val="150000"/>
              </a:lnSpc>
              <a:buFont typeface="Courier New" panose="02070309020205020404" pitchFamily="49" charset="0"/>
              <a:buChar char="o"/>
            </a:pPr>
            <a:r>
              <a:rPr lang="en-US" sz="2000" dirty="0"/>
              <a:t>Split (</a:t>
            </a:r>
            <a:r>
              <a:rPr lang="en-US" sz="2000" b="1" dirty="0"/>
              <a:t>delimited</a:t>
            </a:r>
            <a:r>
              <a:rPr lang="en-US" sz="2000" dirty="0"/>
              <a:t>) the </a:t>
            </a:r>
            <a:r>
              <a:rPr lang="en-US" sz="2000" i="1" dirty="0"/>
              <a:t>Product</a:t>
            </a:r>
            <a:r>
              <a:rPr lang="en-US" sz="2000" dirty="0"/>
              <a:t> column → created </a:t>
            </a:r>
            <a:r>
              <a:rPr lang="en-US" sz="2000" b="1" dirty="0"/>
              <a:t>Segment</a:t>
            </a:r>
            <a:r>
              <a:rPr lang="en-US" sz="2000" dirty="0"/>
              <a:t> field</a:t>
            </a:r>
          </a:p>
          <a:p>
            <a:pPr marL="342900" indent="-342900">
              <a:lnSpc>
                <a:spcPct val="150000"/>
              </a:lnSpc>
              <a:buFont typeface="Courier New" panose="02070309020205020404" pitchFamily="49" charset="0"/>
              <a:buChar char="o"/>
            </a:pPr>
            <a:r>
              <a:rPr lang="en-US" sz="2000" dirty="0"/>
              <a:t>Delimited the </a:t>
            </a:r>
            <a:r>
              <a:rPr lang="en-US" sz="2000" b="1" dirty="0"/>
              <a:t>Price</a:t>
            </a:r>
            <a:r>
              <a:rPr lang="en-US" sz="2000" dirty="0"/>
              <a:t> field → removed the USD prefix columns</a:t>
            </a:r>
          </a:p>
          <a:p>
            <a:pPr marL="342900" indent="-342900">
              <a:lnSpc>
                <a:spcPct val="150000"/>
              </a:lnSpc>
              <a:buFont typeface="Courier New" panose="02070309020205020404" pitchFamily="49" charset="0"/>
              <a:buChar char="o"/>
            </a:pPr>
            <a:r>
              <a:rPr lang="en-US" sz="2000" dirty="0"/>
              <a:t>Ensured data types are correct for all columns</a:t>
            </a:r>
          </a:p>
          <a:p>
            <a:pPr>
              <a:lnSpc>
                <a:spcPct val="150000"/>
              </a:lnSpc>
            </a:pPr>
            <a:r>
              <a:rPr lang="en-US" sz="2000" b="1" dirty="0"/>
              <a:t>Final Step:</a:t>
            </a:r>
            <a:br>
              <a:rPr lang="en-US" sz="2000" dirty="0"/>
            </a:br>
            <a:r>
              <a:rPr lang="en-US" sz="2000" dirty="0"/>
              <a:t>Cross-checked ALL tables → validated data types → created relationships.</a:t>
            </a:r>
          </a:p>
        </p:txBody>
      </p:sp>
    </p:spTree>
    <p:extLst>
      <p:ext uri="{BB962C8B-B14F-4D97-AF65-F5344CB8AC3E}">
        <p14:creationId xmlns:p14="http://schemas.microsoft.com/office/powerpoint/2010/main" val="1291236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CB9CC1B9-C875-481A-BECE-614C6D5DF58C}"/>
              </a:ext>
            </a:extLst>
          </p:cNvPr>
          <p:cNvSpPr txBox="1">
            <a:spLocks/>
          </p:cNvSpPr>
          <p:nvPr/>
        </p:nvSpPr>
        <p:spPr bwMode="gray">
          <a:xfrm>
            <a:off x="677086" y="843677"/>
            <a:ext cx="10837828" cy="651450"/>
          </a:xfrm>
          <a:prstGeom prst="rect">
            <a:avLst/>
          </a:prstGeom>
        </p:spPr>
        <p:txBody>
          <a:bodyPr vert="horz" lIns="91440" tIns="45720" rIns="91440" bIns="45720" rtlCol="0" anchor="b">
            <a:normAutofit fontScale="85000" lnSpcReduction="20000"/>
          </a:bodyPr>
          <a:lstStyle>
            <a:lvl1pPr algn="l" defTabSz="457200" rtl="0" eaLnBrk="1" latinLnBrk="0" hangingPunct="1">
              <a:spcBef>
                <a:spcPct val="0"/>
              </a:spcBef>
              <a:buNone/>
              <a:defRPr sz="48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rgbClr val="E9E6DF"/>
                </a:solidFill>
              </a:rPr>
              <a:t>KPI Highlights</a:t>
            </a:r>
          </a:p>
        </p:txBody>
      </p:sp>
      <p:sp>
        <p:nvSpPr>
          <p:cNvPr id="6" name="TextBox 5">
            <a:extLst>
              <a:ext uri="{FF2B5EF4-FFF2-40B4-BE49-F238E27FC236}">
                <a16:creationId xmlns:a16="http://schemas.microsoft.com/office/drawing/2014/main" id="{87ECC4F9-11BF-42C5-9B21-D02B1EE0D3C3}"/>
              </a:ext>
            </a:extLst>
          </p:cNvPr>
          <p:cNvSpPr txBox="1"/>
          <p:nvPr/>
        </p:nvSpPr>
        <p:spPr>
          <a:xfrm>
            <a:off x="471856" y="2658979"/>
            <a:ext cx="9025070" cy="3170099"/>
          </a:xfrm>
          <a:prstGeom prst="rect">
            <a:avLst/>
          </a:prstGeom>
          <a:noFill/>
        </p:spPr>
        <p:txBody>
          <a:bodyPr wrap="square">
            <a:spAutoFit/>
          </a:bodyPr>
          <a:lstStyle/>
          <a:p>
            <a:pPr marL="285750" indent="-285750">
              <a:buFont typeface="Courier New" panose="02070309020205020404" pitchFamily="49" charset="0"/>
              <a:buChar char="o"/>
            </a:pPr>
            <a:r>
              <a:rPr lang="en-US" sz="2000" b="1" dirty="0"/>
              <a:t>Revenue:</a:t>
            </a:r>
            <a:r>
              <a:rPr lang="en-US" sz="2000" dirty="0"/>
              <a:t> 2.84bn</a:t>
            </a:r>
          </a:p>
          <a:p>
            <a:pPr marL="285750" indent="-285750">
              <a:buFont typeface="Courier New" panose="02070309020205020404" pitchFamily="49" charset="0"/>
              <a:buChar char="o"/>
            </a:pPr>
            <a:r>
              <a:rPr lang="en-US" sz="2000" b="1" dirty="0"/>
              <a:t>Urban Revenue %:</a:t>
            </a:r>
            <a:r>
              <a:rPr lang="en-US" sz="2000" dirty="0"/>
              <a:t> 79.72%</a:t>
            </a:r>
          </a:p>
          <a:p>
            <a:pPr marL="285750" indent="-285750">
              <a:buFont typeface="Courier New" panose="02070309020205020404" pitchFamily="49" charset="0"/>
              <a:buChar char="o"/>
            </a:pPr>
            <a:r>
              <a:rPr lang="en-US" sz="2000" b="1" dirty="0"/>
              <a:t>Cities:</a:t>
            </a:r>
            <a:r>
              <a:rPr lang="en-US" sz="2000" dirty="0"/>
              <a:t> 78.93K</a:t>
            </a:r>
          </a:p>
          <a:p>
            <a:pPr marL="285750" indent="-285750">
              <a:buFont typeface="Courier New" panose="02070309020205020404" pitchFamily="49" charset="0"/>
              <a:buChar char="o"/>
            </a:pPr>
            <a:r>
              <a:rPr lang="en-US" sz="2000" b="1" dirty="0"/>
              <a:t>Products:</a:t>
            </a:r>
            <a:r>
              <a:rPr lang="en-US" sz="2000" dirty="0"/>
              <a:t> 1265</a:t>
            </a:r>
          </a:p>
          <a:p>
            <a:pPr marL="285750" indent="-285750">
              <a:buFont typeface="Courier New" panose="02070309020205020404" pitchFamily="49" charset="0"/>
              <a:buChar char="o"/>
            </a:pPr>
            <a:r>
              <a:rPr lang="en-US" sz="2000" b="1" dirty="0"/>
              <a:t>Manufacturers:</a:t>
            </a:r>
            <a:r>
              <a:rPr lang="en-US" sz="2000" dirty="0"/>
              <a:t> 14</a:t>
            </a:r>
          </a:p>
          <a:p>
            <a:pPr marL="285750" indent="-285750">
              <a:buFont typeface="Courier New" panose="02070309020205020404" pitchFamily="49" charset="0"/>
              <a:buChar char="o"/>
            </a:pPr>
            <a:r>
              <a:rPr lang="en-US" sz="2000" b="1" dirty="0"/>
              <a:t>Countries:</a:t>
            </a:r>
            <a:r>
              <a:rPr lang="en-US" sz="2000" dirty="0"/>
              <a:t> 5</a:t>
            </a:r>
          </a:p>
          <a:p>
            <a:r>
              <a:rPr lang="en-US" sz="2000" b="1" dirty="0"/>
              <a:t>Business Interpretation:</a:t>
            </a:r>
            <a:br>
              <a:rPr lang="en-US" sz="2000" dirty="0"/>
            </a:br>
            <a:r>
              <a:rPr lang="en-US" sz="2000" dirty="0"/>
              <a:t>Urban markets dominate revenue contribution → opportunity in rural expansion.</a:t>
            </a:r>
          </a:p>
          <a:p>
            <a:endParaRPr lang="en-US" sz="2000" dirty="0"/>
          </a:p>
        </p:txBody>
      </p:sp>
    </p:spTree>
    <p:extLst>
      <p:ext uri="{BB962C8B-B14F-4D97-AF65-F5344CB8AC3E}">
        <p14:creationId xmlns:p14="http://schemas.microsoft.com/office/powerpoint/2010/main" val="2329861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CB9CC1B9-C875-481A-BECE-614C6D5DF58C}"/>
              </a:ext>
            </a:extLst>
          </p:cNvPr>
          <p:cNvSpPr txBox="1">
            <a:spLocks/>
          </p:cNvSpPr>
          <p:nvPr/>
        </p:nvSpPr>
        <p:spPr bwMode="gray">
          <a:xfrm>
            <a:off x="455814" y="843677"/>
            <a:ext cx="10837828" cy="651450"/>
          </a:xfrm>
          <a:prstGeom prst="rect">
            <a:avLst/>
          </a:prstGeom>
        </p:spPr>
        <p:txBody>
          <a:bodyPr vert="horz" lIns="91440" tIns="45720" rIns="91440" bIns="45720" rtlCol="0" anchor="b">
            <a:normAutofit fontScale="85000" lnSpcReduction="20000"/>
          </a:bodyPr>
          <a:lstStyle>
            <a:lvl1pPr algn="l" defTabSz="457200" rtl="0" eaLnBrk="1" latinLnBrk="0" hangingPunct="1">
              <a:spcBef>
                <a:spcPct val="0"/>
              </a:spcBef>
              <a:buNone/>
              <a:defRPr sz="48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rgbClr val="E9E6DF"/>
                </a:solidFill>
              </a:rPr>
              <a:t>Revenue Trends &amp; Patterns</a:t>
            </a:r>
          </a:p>
        </p:txBody>
      </p:sp>
      <p:sp>
        <p:nvSpPr>
          <p:cNvPr id="6" name="TextBox 5">
            <a:extLst>
              <a:ext uri="{FF2B5EF4-FFF2-40B4-BE49-F238E27FC236}">
                <a16:creationId xmlns:a16="http://schemas.microsoft.com/office/drawing/2014/main" id="{87ECC4F9-11BF-42C5-9B21-D02B1EE0D3C3}"/>
              </a:ext>
            </a:extLst>
          </p:cNvPr>
          <p:cNvSpPr txBox="1"/>
          <p:nvPr/>
        </p:nvSpPr>
        <p:spPr>
          <a:xfrm>
            <a:off x="455814" y="2691063"/>
            <a:ext cx="9025070" cy="2862322"/>
          </a:xfrm>
          <a:prstGeom prst="rect">
            <a:avLst/>
          </a:prstGeom>
          <a:noFill/>
        </p:spPr>
        <p:txBody>
          <a:bodyPr wrap="square">
            <a:spAutoFit/>
          </a:bodyPr>
          <a:lstStyle/>
          <a:p>
            <a:r>
              <a:rPr lang="en-US" sz="2000" b="1" dirty="0"/>
              <a:t>Revenue Trend (2014–2021):</a:t>
            </a:r>
            <a:endParaRPr lang="en-US" sz="2000" dirty="0"/>
          </a:p>
          <a:p>
            <a:pPr marL="342900" indent="-342900">
              <a:buFont typeface="Courier New" panose="02070309020205020404" pitchFamily="49" charset="0"/>
              <a:buChar char="o"/>
            </a:pPr>
            <a:r>
              <a:rPr lang="en-US" sz="2000" dirty="0"/>
              <a:t>Strong upward growth</a:t>
            </a:r>
          </a:p>
          <a:p>
            <a:pPr marL="342900" indent="-342900">
              <a:buFont typeface="Courier New" panose="02070309020205020404" pitchFamily="49" charset="0"/>
              <a:buChar char="o"/>
            </a:pPr>
            <a:r>
              <a:rPr lang="en-US" sz="2000" dirty="0"/>
              <a:t>Seasonal dips but fast recoveries</a:t>
            </a:r>
          </a:p>
          <a:p>
            <a:pPr marL="342900" indent="-342900">
              <a:buFont typeface="Courier New" panose="02070309020205020404" pitchFamily="49" charset="0"/>
              <a:buChar char="o"/>
            </a:pPr>
            <a:r>
              <a:rPr lang="en-US" sz="2000" dirty="0"/>
              <a:t>2018–2021 show highest performance</a:t>
            </a:r>
          </a:p>
          <a:p>
            <a:r>
              <a:rPr lang="en-US" sz="2000" b="1" dirty="0"/>
              <a:t>Key Drivers:</a:t>
            </a:r>
            <a:endParaRPr lang="en-US" sz="2000" dirty="0"/>
          </a:p>
          <a:p>
            <a:pPr marL="342900" indent="-342900">
              <a:buFont typeface="Courier New" panose="02070309020205020404" pitchFamily="49" charset="0"/>
              <a:buChar char="o"/>
            </a:pPr>
            <a:r>
              <a:rPr lang="en-US" sz="2000" dirty="0"/>
              <a:t>Product launches</a:t>
            </a:r>
          </a:p>
          <a:p>
            <a:pPr marL="342900" indent="-342900">
              <a:buFont typeface="Courier New" panose="02070309020205020404" pitchFamily="49" charset="0"/>
              <a:buChar char="o"/>
            </a:pPr>
            <a:r>
              <a:rPr lang="en-US" sz="2000" dirty="0"/>
              <a:t>Regional promotions</a:t>
            </a:r>
          </a:p>
          <a:p>
            <a:pPr marL="342900" indent="-342900">
              <a:buFont typeface="Courier New" panose="02070309020205020404" pitchFamily="49" charset="0"/>
              <a:buChar char="o"/>
            </a:pPr>
            <a:r>
              <a:rPr lang="en-US" sz="2000" dirty="0"/>
              <a:t>Growth in high-value cities</a:t>
            </a:r>
          </a:p>
          <a:p>
            <a:endParaRPr lang="en-US" sz="2000" dirty="0"/>
          </a:p>
        </p:txBody>
      </p:sp>
      <p:pic>
        <p:nvPicPr>
          <p:cNvPr id="3" name="Picture 2">
            <a:extLst>
              <a:ext uri="{FF2B5EF4-FFF2-40B4-BE49-F238E27FC236}">
                <a16:creationId xmlns:a16="http://schemas.microsoft.com/office/drawing/2014/main" id="{697EA5D0-FF68-450D-8BB7-DC1EF9902FC0}"/>
              </a:ext>
            </a:extLst>
          </p:cNvPr>
          <p:cNvPicPr>
            <a:picLocks noChangeAspect="1"/>
          </p:cNvPicPr>
          <p:nvPr/>
        </p:nvPicPr>
        <p:blipFill>
          <a:blip r:embed="rId3"/>
          <a:stretch>
            <a:fillRect/>
          </a:stretch>
        </p:blipFill>
        <p:spPr>
          <a:xfrm>
            <a:off x="5094099" y="3429000"/>
            <a:ext cx="6642087" cy="1919438"/>
          </a:xfrm>
          <a:prstGeom prst="rect">
            <a:avLst/>
          </a:prstGeom>
        </p:spPr>
      </p:pic>
    </p:spTree>
    <p:extLst>
      <p:ext uri="{BB962C8B-B14F-4D97-AF65-F5344CB8AC3E}">
        <p14:creationId xmlns:p14="http://schemas.microsoft.com/office/powerpoint/2010/main" val="3327789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CB9CC1B9-C875-481A-BECE-614C6D5DF58C}"/>
              </a:ext>
            </a:extLst>
          </p:cNvPr>
          <p:cNvSpPr txBox="1">
            <a:spLocks/>
          </p:cNvSpPr>
          <p:nvPr/>
        </p:nvSpPr>
        <p:spPr bwMode="gray">
          <a:xfrm>
            <a:off x="664361" y="914399"/>
            <a:ext cx="10837828" cy="651450"/>
          </a:xfrm>
          <a:prstGeom prst="rect">
            <a:avLst/>
          </a:prstGeom>
        </p:spPr>
        <p:txBody>
          <a:bodyPr vert="horz" lIns="91440" tIns="45720" rIns="91440" bIns="45720" rtlCol="0" anchor="b">
            <a:normAutofit fontScale="85000" lnSpcReduction="20000"/>
          </a:bodyPr>
          <a:lstStyle>
            <a:lvl1pPr algn="l" defTabSz="457200" rtl="0" eaLnBrk="1" latinLnBrk="0" hangingPunct="1">
              <a:spcBef>
                <a:spcPct val="0"/>
              </a:spcBef>
              <a:buNone/>
              <a:defRPr sz="48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rgbClr val="E9E6DF"/>
                </a:solidFill>
              </a:rPr>
              <a:t>Product, Country &amp; Segment Insights</a:t>
            </a:r>
          </a:p>
        </p:txBody>
      </p:sp>
      <p:sp>
        <p:nvSpPr>
          <p:cNvPr id="6" name="TextBox 5">
            <a:extLst>
              <a:ext uri="{FF2B5EF4-FFF2-40B4-BE49-F238E27FC236}">
                <a16:creationId xmlns:a16="http://schemas.microsoft.com/office/drawing/2014/main" id="{87ECC4F9-11BF-42C5-9B21-D02B1EE0D3C3}"/>
              </a:ext>
            </a:extLst>
          </p:cNvPr>
          <p:cNvSpPr txBox="1"/>
          <p:nvPr/>
        </p:nvSpPr>
        <p:spPr>
          <a:xfrm>
            <a:off x="664361" y="2455314"/>
            <a:ext cx="9025070" cy="4247317"/>
          </a:xfrm>
          <a:prstGeom prst="rect">
            <a:avLst/>
          </a:prstGeom>
          <a:noFill/>
        </p:spPr>
        <p:txBody>
          <a:bodyPr wrap="square">
            <a:spAutoFit/>
          </a:bodyPr>
          <a:lstStyle/>
          <a:p>
            <a:r>
              <a:rPr lang="en-US" b="1" dirty="0"/>
              <a:t>Top Products</a:t>
            </a:r>
          </a:p>
          <a:p>
            <a:pPr marL="285750" indent="-285750">
              <a:buFont typeface="Courier New" panose="02070309020205020404" pitchFamily="49" charset="0"/>
              <a:buChar char="o"/>
            </a:pPr>
            <a:r>
              <a:rPr lang="en-US" dirty="0"/>
              <a:t>Maximus UM-80 (88M)</a:t>
            </a:r>
          </a:p>
          <a:p>
            <a:pPr marL="285750" indent="-285750">
              <a:buFont typeface="Courier New" panose="02070309020205020404" pitchFamily="49" charset="0"/>
              <a:buChar char="o"/>
            </a:pPr>
            <a:r>
              <a:rPr lang="en-US" dirty="0"/>
              <a:t>Maximus UM-01 (76M)</a:t>
            </a:r>
          </a:p>
          <a:p>
            <a:pPr marL="285750" indent="-285750">
              <a:buFont typeface="Courier New" panose="02070309020205020404" pitchFamily="49" charset="0"/>
              <a:buChar char="o"/>
            </a:pPr>
            <a:r>
              <a:rPr lang="en-US" dirty="0"/>
              <a:t>Natura UM-10 (51M)</a:t>
            </a:r>
          </a:p>
          <a:p>
            <a:r>
              <a:rPr lang="en-US" b="1" dirty="0"/>
              <a:t>Top Countries</a:t>
            </a:r>
          </a:p>
          <a:p>
            <a:pPr marL="285750" indent="-285750">
              <a:buFont typeface="Courier New" panose="02070309020205020404" pitchFamily="49" charset="0"/>
              <a:buChar char="o"/>
            </a:pPr>
            <a:r>
              <a:rPr lang="en-US" dirty="0"/>
              <a:t>USA (dominant)</a:t>
            </a:r>
          </a:p>
          <a:p>
            <a:pPr marL="285750" indent="-285750">
              <a:buFont typeface="Courier New" panose="02070309020205020404" pitchFamily="49" charset="0"/>
              <a:buChar char="o"/>
            </a:pPr>
            <a:r>
              <a:rPr lang="en-US" dirty="0"/>
              <a:t>Australia</a:t>
            </a:r>
          </a:p>
          <a:p>
            <a:pPr marL="285750" indent="-285750">
              <a:buFont typeface="Courier New" panose="02070309020205020404" pitchFamily="49" charset="0"/>
              <a:buChar char="o"/>
            </a:pPr>
            <a:r>
              <a:rPr lang="en-US" dirty="0"/>
              <a:t>Japan</a:t>
            </a:r>
          </a:p>
          <a:p>
            <a:pPr marL="285750" indent="-285750">
              <a:buFont typeface="Courier New" panose="02070309020205020404" pitchFamily="49" charset="0"/>
              <a:buChar char="o"/>
            </a:pPr>
            <a:r>
              <a:rPr lang="en-US" dirty="0"/>
              <a:t>Nigeria &amp; Germany (growing potential)</a:t>
            </a:r>
          </a:p>
          <a:p>
            <a:r>
              <a:rPr lang="en-US" b="1" dirty="0"/>
              <a:t>Top Segments</a:t>
            </a:r>
          </a:p>
          <a:p>
            <a:pPr marL="285750" indent="-285750">
              <a:buFont typeface="Courier New" panose="02070309020205020404" pitchFamily="49" charset="0"/>
              <a:buChar char="o"/>
            </a:pPr>
            <a:r>
              <a:rPr lang="en-US" dirty="0"/>
              <a:t>Convenience — 1.01bn</a:t>
            </a:r>
          </a:p>
          <a:p>
            <a:pPr marL="285750" indent="-285750">
              <a:buFont typeface="Courier New" panose="02070309020205020404" pitchFamily="49" charset="0"/>
              <a:buChar char="o"/>
            </a:pPr>
            <a:r>
              <a:rPr lang="en-US" dirty="0"/>
              <a:t>Moderation — 688M</a:t>
            </a:r>
          </a:p>
          <a:p>
            <a:pPr marL="285750" indent="-285750">
              <a:buFont typeface="Courier New" panose="02070309020205020404" pitchFamily="49" charset="0"/>
              <a:buChar char="o"/>
            </a:pPr>
            <a:r>
              <a:rPr lang="en-US" dirty="0"/>
              <a:t>Extreme — 506M</a:t>
            </a:r>
          </a:p>
          <a:p>
            <a:r>
              <a:rPr lang="en-US" b="1" dirty="0"/>
              <a:t>Insight:</a:t>
            </a:r>
            <a:br>
              <a:rPr lang="en-US" dirty="0"/>
            </a:br>
            <a:r>
              <a:rPr lang="en-US" dirty="0"/>
              <a:t>Convenience + Moderation ≈ </a:t>
            </a:r>
            <a:r>
              <a:rPr lang="en-US" b="1" dirty="0"/>
              <a:t>60% of total revenue</a:t>
            </a:r>
            <a:r>
              <a:rPr lang="en-US" dirty="0"/>
              <a:t>.</a:t>
            </a:r>
          </a:p>
        </p:txBody>
      </p:sp>
      <p:sp>
        <p:nvSpPr>
          <p:cNvPr id="7" name="Rectangle: Rounded Corners 6">
            <a:extLst>
              <a:ext uri="{FF2B5EF4-FFF2-40B4-BE49-F238E27FC236}">
                <a16:creationId xmlns:a16="http://schemas.microsoft.com/office/drawing/2014/main" id="{369FAA51-7356-44E0-B7D0-8DBB3CC761C9}"/>
              </a:ext>
            </a:extLst>
          </p:cNvPr>
          <p:cNvSpPr/>
          <p:nvPr/>
        </p:nvSpPr>
        <p:spPr>
          <a:xfrm>
            <a:off x="5431858" y="2325084"/>
            <a:ext cx="6256421" cy="4022488"/>
          </a:xfrm>
          <a:prstGeom prst="roundRect">
            <a:avLst>
              <a:gd name="adj" fmla="val 0"/>
            </a:avLst>
          </a:prstGeom>
          <a:solidFill>
            <a:srgbClr val="642F6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56AA37CB-6325-47AC-A102-AAB1CCBF05B4}"/>
              </a:ext>
            </a:extLst>
          </p:cNvPr>
          <p:cNvPicPr>
            <a:picLocks noChangeAspect="1"/>
          </p:cNvPicPr>
          <p:nvPr/>
        </p:nvPicPr>
        <p:blipFill>
          <a:blip r:embed="rId3"/>
          <a:stretch>
            <a:fillRect/>
          </a:stretch>
        </p:blipFill>
        <p:spPr>
          <a:xfrm>
            <a:off x="5606907" y="4393267"/>
            <a:ext cx="5906324" cy="1884481"/>
          </a:xfrm>
          <a:prstGeom prst="rect">
            <a:avLst/>
          </a:prstGeom>
        </p:spPr>
      </p:pic>
      <p:pic>
        <p:nvPicPr>
          <p:cNvPr id="10" name="Picture 9">
            <a:extLst>
              <a:ext uri="{FF2B5EF4-FFF2-40B4-BE49-F238E27FC236}">
                <a16:creationId xmlns:a16="http://schemas.microsoft.com/office/drawing/2014/main" id="{B4738B14-FEE5-4D47-AE03-95ECD2D104C8}"/>
              </a:ext>
            </a:extLst>
          </p:cNvPr>
          <p:cNvPicPr>
            <a:picLocks noChangeAspect="1"/>
          </p:cNvPicPr>
          <p:nvPr/>
        </p:nvPicPr>
        <p:blipFill>
          <a:blip r:embed="rId4"/>
          <a:stretch>
            <a:fillRect/>
          </a:stretch>
        </p:blipFill>
        <p:spPr>
          <a:xfrm>
            <a:off x="5606907" y="2444648"/>
            <a:ext cx="5906324" cy="1829055"/>
          </a:xfrm>
          <a:prstGeom prst="rect">
            <a:avLst/>
          </a:prstGeom>
        </p:spPr>
      </p:pic>
    </p:spTree>
    <p:extLst>
      <p:ext uri="{BB962C8B-B14F-4D97-AF65-F5344CB8AC3E}">
        <p14:creationId xmlns:p14="http://schemas.microsoft.com/office/powerpoint/2010/main" val="2201597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CB9CC1B9-C875-481A-BECE-614C6D5DF58C}"/>
              </a:ext>
            </a:extLst>
          </p:cNvPr>
          <p:cNvSpPr txBox="1">
            <a:spLocks/>
          </p:cNvSpPr>
          <p:nvPr/>
        </p:nvSpPr>
        <p:spPr bwMode="gray">
          <a:xfrm>
            <a:off x="664361" y="914399"/>
            <a:ext cx="10837828" cy="651450"/>
          </a:xfrm>
          <a:prstGeom prst="rect">
            <a:avLst/>
          </a:prstGeom>
        </p:spPr>
        <p:txBody>
          <a:bodyPr vert="horz" lIns="91440" tIns="45720" rIns="91440" bIns="45720" rtlCol="0" anchor="b">
            <a:normAutofit fontScale="85000" lnSpcReduction="20000"/>
          </a:bodyPr>
          <a:lstStyle>
            <a:lvl1pPr algn="l" defTabSz="457200" rtl="0" eaLnBrk="1" latinLnBrk="0" hangingPunct="1">
              <a:spcBef>
                <a:spcPct val="0"/>
              </a:spcBef>
              <a:buNone/>
              <a:defRPr sz="48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Final Insights &amp; Recommendations</a:t>
            </a:r>
            <a:endParaRPr lang="en-US" b="1" dirty="0">
              <a:solidFill>
                <a:srgbClr val="E9E6DF"/>
              </a:solidFill>
            </a:endParaRPr>
          </a:p>
        </p:txBody>
      </p:sp>
      <p:sp>
        <p:nvSpPr>
          <p:cNvPr id="6" name="TextBox 5">
            <a:extLst>
              <a:ext uri="{FF2B5EF4-FFF2-40B4-BE49-F238E27FC236}">
                <a16:creationId xmlns:a16="http://schemas.microsoft.com/office/drawing/2014/main" id="{87ECC4F9-11BF-42C5-9B21-D02B1EE0D3C3}"/>
              </a:ext>
            </a:extLst>
          </p:cNvPr>
          <p:cNvSpPr txBox="1"/>
          <p:nvPr/>
        </p:nvSpPr>
        <p:spPr>
          <a:xfrm>
            <a:off x="664361" y="2455314"/>
            <a:ext cx="9025070" cy="3139321"/>
          </a:xfrm>
          <a:prstGeom prst="rect">
            <a:avLst/>
          </a:prstGeom>
          <a:noFill/>
        </p:spPr>
        <p:txBody>
          <a:bodyPr wrap="square">
            <a:spAutoFit/>
          </a:bodyPr>
          <a:lstStyle/>
          <a:p>
            <a:r>
              <a:rPr lang="en-US" b="1" dirty="0"/>
              <a:t>Insights</a:t>
            </a:r>
          </a:p>
          <a:p>
            <a:pPr marL="285750" indent="-285750">
              <a:buFont typeface="Courier New" panose="02070309020205020404" pitchFamily="49" charset="0"/>
              <a:buChar char="o"/>
            </a:pPr>
            <a:r>
              <a:rPr lang="en-US" dirty="0"/>
              <a:t>Urban markets = </a:t>
            </a:r>
            <a:r>
              <a:rPr lang="en-US" b="1" dirty="0"/>
              <a:t>primary revenue zone</a:t>
            </a:r>
            <a:endParaRPr lang="en-US" dirty="0"/>
          </a:p>
          <a:p>
            <a:pPr marL="285750" indent="-285750">
              <a:buFont typeface="Courier New" panose="02070309020205020404" pitchFamily="49" charset="0"/>
              <a:buChar char="o"/>
            </a:pPr>
            <a:r>
              <a:rPr lang="en-US" dirty="0"/>
              <a:t>Product portfolio heavily depends on </a:t>
            </a:r>
            <a:r>
              <a:rPr lang="en-US" b="1" dirty="0"/>
              <a:t>Maximus line</a:t>
            </a:r>
            <a:endParaRPr lang="en-US" dirty="0"/>
          </a:p>
          <a:p>
            <a:pPr marL="285750" indent="-285750">
              <a:buFont typeface="Courier New" panose="02070309020205020404" pitchFamily="49" charset="0"/>
              <a:buChar char="o"/>
            </a:pPr>
            <a:r>
              <a:rPr lang="en-US" dirty="0"/>
              <a:t>Mid-tier products show strongest growth</a:t>
            </a:r>
          </a:p>
          <a:p>
            <a:pPr marL="285750" indent="-285750">
              <a:buFont typeface="Courier New" panose="02070309020205020404" pitchFamily="49" charset="0"/>
              <a:buChar char="o"/>
            </a:pPr>
            <a:r>
              <a:rPr lang="en-US" dirty="0"/>
              <a:t>Nigeria and Germany = </a:t>
            </a:r>
            <a:r>
              <a:rPr lang="en-US" b="1" dirty="0"/>
              <a:t>emerging markets</a:t>
            </a:r>
            <a:endParaRPr lang="en-US" dirty="0"/>
          </a:p>
          <a:p>
            <a:r>
              <a:rPr lang="en-US" b="1" dirty="0"/>
              <a:t>Recommendations</a:t>
            </a:r>
          </a:p>
          <a:p>
            <a:pPr marL="285750" indent="-285750">
              <a:buFont typeface="Courier New" panose="02070309020205020404" pitchFamily="49" charset="0"/>
              <a:buChar char="o"/>
            </a:pPr>
            <a:r>
              <a:rPr lang="en-US" dirty="0"/>
              <a:t>Strengthen rural distribution strategy</a:t>
            </a:r>
          </a:p>
          <a:p>
            <a:pPr marL="285750" indent="-285750">
              <a:buFont typeface="Courier New" panose="02070309020205020404" pitchFamily="49" charset="0"/>
              <a:buChar char="o"/>
            </a:pPr>
            <a:r>
              <a:rPr lang="en-US" dirty="0"/>
              <a:t>Diversify product dependence</a:t>
            </a:r>
          </a:p>
          <a:p>
            <a:pPr marL="285750" indent="-285750">
              <a:buFont typeface="Courier New" panose="02070309020205020404" pitchFamily="49" charset="0"/>
              <a:buChar char="o"/>
            </a:pPr>
            <a:r>
              <a:rPr lang="en-US" dirty="0"/>
              <a:t>Invest more in mid-tier pricing</a:t>
            </a:r>
          </a:p>
          <a:p>
            <a:pPr marL="285750" indent="-285750">
              <a:buFont typeface="Courier New" panose="02070309020205020404" pitchFamily="49" charset="0"/>
              <a:buChar char="o"/>
            </a:pPr>
            <a:r>
              <a:rPr lang="en-US" dirty="0"/>
              <a:t>Expand marketing in high-potential regions</a:t>
            </a:r>
          </a:p>
          <a:p>
            <a:endParaRPr lang="en-US" dirty="0"/>
          </a:p>
        </p:txBody>
      </p:sp>
    </p:spTree>
    <p:extLst>
      <p:ext uri="{BB962C8B-B14F-4D97-AF65-F5344CB8AC3E}">
        <p14:creationId xmlns:p14="http://schemas.microsoft.com/office/powerpoint/2010/main" val="964563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CB9CC1B9-C875-481A-BECE-614C6D5DF58C}"/>
              </a:ext>
            </a:extLst>
          </p:cNvPr>
          <p:cNvSpPr txBox="1">
            <a:spLocks/>
          </p:cNvSpPr>
          <p:nvPr/>
        </p:nvSpPr>
        <p:spPr bwMode="gray">
          <a:xfrm>
            <a:off x="664361" y="914399"/>
            <a:ext cx="10837828" cy="651450"/>
          </a:xfrm>
          <a:prstGeom prst="rect">
            <a:avLst/>
          </a:prstGeom>
        </p:spPr>
        <p:txBody>
          <a:bodyPr vert="horz" lIns="91440" tIns="45720" rIns="91440" bIns="45720" rtlCol="0" anchor="b">
            <a:normAutofit fontScale="85000" lnSpcReduction="20000"/>
          </a:bodyPr>
          <a:lstStyle>
            <a:lvl1pPr algn="l" defTabSz="457200" rtl="0" eaLnBrk="1" latinLnBrk="0" hangingPunct="1">
              <a:spcBef>
                <a:spcPct val="0"/>
              </a:spcBef>
              <a:buNone/>
              <a:defRPr sz="48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CONCLUSION</a:t>
            </a:r>
            <a:endParaRPr lang="en-US" b="1" dirty="0">
              <a:solidFill>
                <a:srgbClr val="E9E6DF"/>
              </a:solidFill>
            </a:endParaRPr>
          </a:p>
        </p:txBody>
      </p:sp>
      <p:sp>
        <p:nvSpPr>
          <p:cNvPr id="6" name="TextBox 5">
            <a:extLst>
              <a:ext uri="{FF2B5EF4-FFF2-40B4-BE49-F238E27FC236}">
                <a16:creationId xmlns:a16="http://schemas.microsoft.com/office/drawing/2014/main" id="{87ECC4F9-11BF-42C5-9B21-D02B1EE0D3C3}"/>
              </a:ext>
            </a:extLst>
          </p:cNvPr>
          <p:cNvSpPr txBox="1"/>
          <p:nvPr/>
        </p:nvSpPr>
        <p:spPr>
          <a:xfrm>
            <a:off x="522120" y="2343554"/>
            <a:ext cx="11344759" cy="4642681"/>
          </a:xfrm>
          <a:prstGeom prst="rect">
            <a:avLst/>
          </a:prstGeom>
          <a:noFill/>
        </p:spPr>
        <p:txBody>
          <a:bodyPr wrap="square">
            <a:spAutoFit/>
          </a:bodyPr>
          <a:lstStyle/>
          <a:p>
            <a:pPr marL="0" marR="0">
              <a:lnSpc>
                <a:spcPct val="107000"/>
              </a:lnSpc>
              <a:spcBef>
                <a:spcPts val="0"/>
              </a:spcBef>
              <a:spcAft>
                <a:spcPts val="800"/>
              </a:spcAft>
            </a:pPr>
            <a:r>
              <a:rPr lang="en-US" sz="1600" dirty="0">
                <a:effectLst/>
                <a:ea typeface="Times New Roman" panose="02020603050405020304" pitchFamily="18" charset="0"/>
                <a:cs typeface="Times New Roman" panose="02020603050405020304" pitchFamily="18" charset="0"/>
              </a:rPr>
              <a:t>This sales analysis has identified key factors driving revenue performance across multiple countries and product segments. The data reveals that urban regions contribute the majority of total revenue (≈80%), highlighting the importance of focusing on high-density markets. Additionally, top-performing products, particularly the Maximus line, generate a disproportionate share of revenue, indicating that product-specific strategies can significantly impact overall sales.</a:t>
            </a:r>
            <a:endParaRPr lang="en-US" sz="1600"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600" dirty="0">
                <a:effectLst/>
                <a:ea typeface="Times New Roman" panose="02020603050405020304" pitchFamily="18" charset="0"/>
                <a:cs typeface="Times New Roman" panose="02020603050405020304" pitchFamily="18" charset="0"/>
              </a:rPr>
              <a:t>Segmented analysis further shows that revenue is influenced more by product category and geographic location than by manufacturer count or country size alone. These findings suggest the need for targeted business strategies focused on:</a:t>
            </a:r>
            <a:endParaRPr lang="en-US" sz="16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Courier New" panose="02070309020205020404" pitchFamily="49" charset="0"/>
              <a:buChar char="o"/>
              <a:tabLst>
                <a:tab pos="457200" algn="l"/>
              </a:tabLst>
            </a:pPr>
            <a:r>
              <a:rPr lang="en-US" sz="1600" dirty="0">
                <a:effectLst/>
                <a:ea typeface="Times New Roman" panose="02020603050405020304" pitchFamily="18" charset="0"/>
                <a:cs typeface="Times New Roman" panose="02020603050405020304" pitchFamily="18" charset="0"/>
              </a:rPr>
              <a:t>Expanding high-performing product lines,</a:t>
            </a:r>
            <a:endParaRPr lang="en-US" sz="16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Courier New" panose="02070309020205020404" pitchFamily="49" charset="0"/>
              <a:buChar char="o"/>
              <a:tabLst>
                <a:tab pos="457200" algn="l"/>
              </a:tabLst>
            </a:pPr>
            <a:r>
              <a:rPr lang="en-US" sz="1600" dirty="0">
                <a:effectLst/>
                <a:ea typeface="Times New Roman" panose="02020603050405020304" pitchFamily="18" charset="0"/>
                <a:cs typeface="Times New Roman" panose="02020603050405020304" pitchFamily="18" charset="0"/>
              </a:rPr>
              <a:t>Prioritizing urban market penetration,</a:t>
            </a:r>
            <a:endParaRPr lang="en-US" sz="16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Courier New" panose="02070309020205020404" pitchFamily="49" charset="0"/>
              <a:buChar char="o"/>
              <a:tabLst>
                <a:tab pos="457200" algn="l"/>
              </a:tabLst>
            </a:pPr>
            <a:r>
              <a:rPr lang="en-US" sz="1600" dirty="0">
                <a:effectLst/>
                <a:ea typeface="Times New Roman" panose="02020603050405020304" pitchFamily="18" charset="0"/>
                <a:cs typeface="Times New Roman" panose="02020603050405020304" pitchFamily="18" charset="0"/>
              </a:rPr>
              <a:t>Monitoring emerging markets such as Nigeria and Germany for growth opportunities.</a:t>
            </a:r>
            <a:endParaRPr lang="en-US" sz="1600"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600" dirty="0">
                <a:effectLst/>
                <a:ea typeface="Times New Roman" panose="02020603050405020304" pitchFamily="18" charset="0"/>
                <a:cs typeface="Times New Roman" panose="02020603050405020304" pitchFamily="18" charset="0"/>
              </a:rPr>
              <a:t>Going forward, integrating predictive analytics into the dashboard (e.g., revenue forecasting, seasonal trend modeling) could enhance the company’s ability to proactively optimize product investments, market expansion, and revenue growth.</a:t>
            </a:r>
            <a:endParaRPr lang="en-US" sz="1600" dirty="0">
              <a:effectLst/>
              <a:ea typeface="Calibri" panose="020F0502020204030204" pitchFamily="34" charset="0"/>
              <a:cs typeface="Times New Roman" panose="02020603050405020304" pitchFamily="18" charset="0"/>
            </a:endParaRPr>
          </a:p>
          <a:p>
            <a:endParaRPr lang="en-US" sz="1600" dirty="0"/>
          </a:p>
        </p:txBody>
      </p:sp>
    </p:spTree>
    <p:extLst>
      <p:ext uri="{BB962C8B-B14F-4D97-AF65-F5344CB8AC3E}">
        <p14:creationId xmlns:p14="http://schemas.microsoft.com/office/powerpoint/2010/main" val="4598324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045227-5724-4DBF-9712-031B1BFB2C3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22457D9-12AC-4794-A05E-F1B90FCD8D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7B39BD0-040C-43BE-B0E4-512B09E8003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Ion Boardroom</Template>
  <TotalTime>748</TotalTime>
  <Words>791</Words>
  <Application>Microsoft Office PowerPoint</Application>
  <PresentationFormat>Widescreen</PresentationFormat>
  <Paragraphs>122</Paragraphs>
  <Slides>15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Century Gothic</vt:lpstr>
      <vt:lpstr>Courier New</vt:lpstr>
      <vt:lpstr>Wingdings 3</vt:lpstr>
      <vt:lpstr>Ion Boardroom</vt:lpstr>
      <vt:lpstr>Sales Analysis Project End-to-End Data Analytics Project (2014–2021) Prepared by: Top Boy</vt:lpstr>
      <vt:lpstr>PowerPoint Presentation</vt:lpstr>
      <vt:lpstr>PROBLEM STATEMENT 1</vt:lpstr>
      <vt:lpstr>PROBLEM STATEMENT 2</vt:lpstr>
      <vt:lpstr>Project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Analysis Project End-to-End Data Analytics Project (2014–2021) Prepared by: Top Boy</dc:title>
  <dc:creator>OLAOLUWA MICHAEL</dc:creator>
  <cp:lastModifiedBy>OLAOLUWA MICHAEL</cp:lastModifiedBy>
  <cp:revision>12</cp:revision>
  <dcterms:created xsi:type="dcterms:W3CDTF">2025-11-17T20:23:24Z</dcterms:created>
  <dcterms:modified xsi:type="dcterms:W3CDTF">2025-11-18T08:54:44Z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